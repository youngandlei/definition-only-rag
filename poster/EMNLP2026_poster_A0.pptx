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0275784" cy="42803064"/>
  <p:notesSz cx="42803064" cy="3027578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ouyang/2026/emnlp2026/poster_pptx/figures/utokyo_logo.png">    </p:cNvPr>
          <p:cNvPicPr>
            <a:picLocks noChangeAspect="1"/>
          </p:cNvPicPr>
          <p:nvPr/>
        </p:nvPicPr>
        <p:blipFill>
          <a:blip r:embed="rId1"/>
          <a:stretch>
            <a:fillRect/>
          </a:stretch>
        </p:blipFill>
        <p:spPr>
          <a:xfrm>
            <a:off x="25383744" y="914400"/>
            <a:ext cx="3931920" cy="1018368"/>
          </a:xfrm>
          <a:prstGeom prst="rect">
            <a:avLst/>
          </a:prstGeom>
        </p:spPr>
      </p:pic>
      <p:pic>
        <p:nvPicPr>
          <p:cNvPr id="3" name="Image 1" descr="/Users/ouyang/2026/emnlp2026/poster_pptx/figures/matsuolab_logo.png">    </p:cNvPr>
          <p:cNvPicPr>
            <a:picLocks noChangeAspect="1"/>
          </p:cNvPicPr>
          <p:nvPr/>
        </p:nvPicPr>
        <p:blipFill>
          <a:blip r:embed="rId2"/>
          <a:stretch>
            <a:fillRect/>
          </a:stretch>
        </p:blipFill>
        <p:spPr>
          <a:xfrm>
            <a:off x="960120" y="868680"/>
            <a:ext cx="1600200" cy="1600200"/>
          </a:xfrm>
          <a:prstGeom prst="rect">
            <a:avLst/>
          </a:prstGeom>
        </p:spPr>
      </p:pic>
      <p:sp>
        <p:nvSpPr>
          <p:cNvPr id="4" name="Text 0"/>
          <p:cNvSpPr/>
          <p:nvPr/>
        </p:nvSpPr>
        <p:spPr>
          <a:xfrm>
            <a:off x="2880360" y="658368"/>
            <a:ext cx="22137624" cy="1097280"/>
          </a:xfrm>
          <a:prstGeom prst="rect">
            <a:avLst/>
          </a:prstGeom>
          <a:noFill/>
          <a:ln/>
        </p:spPr>
        <p:txBody>
          <a:bodyPr wrap="square" lIns="0" tIns="0" rIns="0" bIns="0" rtlCol="0" anchor="ctr"/>
          <a:lstStyle/>
          <a:p>
            <a:pPr algn="ctr" indent="0" marL="0">
              <a:buNone/>
            </a:pPr>
            <a:r>
              <a:rPr lang="en-US" sz="7400" b="1" dirty="0">
                <a:solidFill>
                  <a:srgbClr val="000000"/>
                </a:solidFill>
                <a:latin typeface="Georgia" pitchFamily="34" charset="0"/>
                <a:ea typeface="Georgia" pitchFamily="34" charset="-122"/>
                <a:cs typeface="Georgia" pitchFamily="34" charset="-120"/>
              </a:rPr>
              <a:t>Definition-Only RAG for Financial QA:</a:t>
            </a:r>
            <a:endParaRPr lang="en-US" sz="7400" dirty="0"/>
          </a:p>
        </p:txBody>
      </p:sp>
      <p:sp>
        <p:nvSpPr>
          <p:cNvPr id="5" name="Text 1"/>
          <p:cNvSpPr/>
          <p:nvPr/>
        </p:nvSpPr>
        <p:spPr>
          <a:xfrm>
            <a:off x="2880360" y="1783080"/>
            <a:ext cx="22137624" cy="1097280"/>
          </a:xfrm>
          <a:prstGeom prst="rect">
            <a:avLst/>
          </a:prstGeom>
          <a:noFill/>
          <a:ln/>
        </p:spPr>
        <p:txBody>
          <a:bodyPr wrap="square" lIns="0" tIns="0" rIns="0" bIns="0" rtlCol="0" anchor="ctr"/>
          <a:lstStyle/>
          <a:p>
            <a:pPr algn="ctr" indent="0" marL="0">
              <a:buNone/>
            </a:pPr>
            <a:r>
              <a:rPr lang="en-US" sz="7400" b="1" dirty="0">
                <a:solidFill>
                  <a:srgbClr val="000000"/>
                </a:solidFill>
                <a:latin typeface="Georgia" pitchFamily="34" charset="0"/>
                <a:ea typeface="Georgia" pitchFamily="34" charset="-122"/>
                <a:cs typeface="Georgia" pitchFamily="34" charset="-120"/>
              </a:rPr>
              <a:t>Average Gains and a Diagnostic Boundary</a:t>
            </a:r>
            <a:endParaRPr lang="en-US" sz="7400" dirty="0"/>
          </a:p>
        </p:txBody>
      </p:sp>
      <p:sp>
        <p:nvSpPr>
          <p:cNvPr id="6" name="Text 2"/>
          <p:cNvSpPr/>
          <p:nvPr/>
        </p:nvSpPr>
        <p:spPr>
          <a:xfrm>
            <a:off x="960120" y="2980944"/>
            <a:ext cx="28355544" cy="548640"/>
          </a:xfrm>
          <a:prstGeom prst="rect">
            <a:avLst/>
          </a:prstGeom>
          <a:noFill/>
          <a:ln/>
        </p:spPr>
        <p:txBody>
          <a:bodyPr wrap="square" lIns="0" tIns="0" rIns="0" bIns="0" rtlCol="0" anchor="ctr"/>
          <a:lstStyle/>
          <a:p>
            <a:pPr algn="ctr" indent="0" marL="0">
              <a:buNone/>
            </a:pPr>
            <a:r>
              <a:rPr lang="en-US" sz="3400" dirty="0">
                <a:solidFill>
                  <a:srgbClr val="000000"/>
                </a:solidFill>
                <a:latin typeface="Calibri" pitchFamily="34" charset="0"/>
                <a:ea typeface="Calibri" pitchFamily="34" charset="-122"/>
                <a:cs typeface="Calibri" pitchFamily="34" charset="-120"/>
              </a:rPr>
              <a:t>Leyi Ouyang,   Edison Marrese-Taylor,   Yutaka Matsuo</a:t>
            </a:r>
            <a:endParaRPr lang="en-US" sz="3400" dirty="0"/>
          </a:p>
        </p:txBody>
      </p:sp>
      <p:sp>
        <p:nvSpPr>
          <p:cNvPr id="7" name="Text 3"/>
          <p:cNvSpPr/>
          <p:nvPr/>
        </p:nvSpPr>
        <p:spPr>
          <a:xfrm>
            <a:off x="960120" y="3584448"/>
            <a:ext cx="28355544" cy="457200"/>
          </a:xfrm>
          <a:prstGeom prst="rect">
            <a:avLst/>
          </a:prstGeom>
          <a:noFill/>
          <a:ln/>
        </p:spPr>
        <p:txBody>
          <a:bodyPr wrap="square" lIns="0" tIns="0" rIns="0" bIns="0" rtlCol="0" anchor="ctr"/>
          <a:lstStyle/>
          <a:p>
            <a:pPr algn="ctr" indent="0" marL="0">
              <a:buNone/>
            </a:pPr>
            <a:r>
              <a:rPr lang="en-US" sz="2400" dirty="0">
                <a:solidFill>
                  <a:srgbClr val="4A4A4A"/>
                </a:solidFill>
                <a:latin typeface="Calibri" pitchFamily="34" charset="0"/>
                <a:ea typeface="Calibri" pitchFamily="34" charset="-122"/>
                <a:cs typeface="Calibri" pitchFamily="34" charset="-120"/>
              </a:rPr>
              <a:t>The University of Tokyo</a:t>
            </a:r>
            <a:endParaRPr lang="en-US" sz="2400" dirty="0"/>
          </a:p>
        </p:txBody>
      </p:sp>
      <p:sp>
        <p:nvSpPr>
          <p:cNvPr id="8" name="Text 4"/>
          <p:cNvSpPr/>
          <p:nvPr/>
        </p:nvSpPr>
        <p:spPr>
          <a:xfrm>
            <a:off x="960120" y="4389120"/>
            <a:ext cx="28355544" cy="411480"/>
          </a:xfrm>
          <a:prstGeom prst="rect">
            <a:avLst/>
          </a:prstGeom>
          <a:noFill/>
          <a:ln/>
        </p:spPr>
        <p:txBody>
          <a:bodyPr wrap="square" lIns="0" tIns="0" rIns="0" bIns="0" rtlCol="0" anchor="ctr"/>
          <a:lstStyle/>
          <a:p>
            <a:pPr algn="ctr" indent="0" marL="0">
              <a:buNone/>
            </a:pPr>
            <a:r>
              <a:rPr lang="en-US" sz="2500" b="1" dirty="0">
                <a:solidFill>
                  <a:srgbClr val="000000"/>
                </a:solidFill>
                <a:latin typeface="Calibri" pitchFamily="34" charset="0"/>
                <a:ea typeface="Calibri" pitchFamily="34" charset="-122"/>
                <a:cs typeface="Calibri" pitchFamily="34" charset="-120"/>
              </a:rPr>
              <a:t>Findings of EMNLP 2026</a:t>
            </a:r>
            <a:endParaRPr lang="en-US" sz="2500" dirty="0"/>
          </a:p>
        </p:txBody>
      </p:sp>
      <p:sp>
        <p:nvSpPr>
          <p:cNvPr id="9" name="Shape 5"/>
          <p:cNvSpPr/>
          <p:nvPr/>
        </p:nvSpPr>
        <p:spPr>
          <a:xfrm>
            <a:off x="960120" y="5074920"/>
            <a:ext cx="16367760" cy="841248"/>
          </a:xfrm>
          <a:prstGeom prst="rect">
            <a:avLst/>
          </a:prstGeom>
          <a:solidFill>
            <a:srgbClr val="ECECEC"/>
          </a:solidFill>
          <a:ln>
            <a:noFill/>
          </a:ln>
        </p:spPr>
      </p:sp>
      <p:sp>
        <p:nvSpPr>
          <p:cNvPr id="10" name="Text 6"/>
          <p:cNvSpPr/>
          <p:nvPr/>
        </p:nvSpPr>
        <p:spPr>
          <a:xfrm>
            <a:off x="1234440" y="5074920"/>
            <a:ext cx="15819120" cy="841248"/>
          </a:xfrm>
          <a:prstGeom prst="rect">
            <a:avLst/>
          </a:prstGeom>
          <a:noFill/>
          <a:ln/>
        </p:spPr>
        <p:txBody>
          <a:bodyPr wrap="square" lIns="0" tIns="0" rIns="0" bIns="0" rtlCol="0" anchor="ctr"/>
          <a:lstStyle/>
          <a:p>
            <a:pPr indent="0" marL="0">
              <a:buNone/>
            </a:pPr>
            <a:r>
              <a:rPr lang="en-US" sz="3400" b="1" dirty="0">
                <a:solidFill>
                  <a:srgbClr val="000000"/>
                </a:solidFill>
                <a:latin typeface="Georgia" pitchFamily="34" charset="0"/>
                <a:ea typeface="Georgia" pitchFamily="34" charset="-122"/>
                <a:cs typeface="Georgia" pitchFamily="34" charset="-120"/>
              </a:rPr>
              <a:t>Introduction</a:t>
            </a:r>
            <a:endParaRPr lang="en-US" sz="3400" dirty="0"/>
          </a:p>
        </p:txBody>
      </p:sp>
      <p:sp>
        <p:nvSpPr>
          <p:cNvPr id="11" name="Shape 7"/>
          <p:cNvSpPr/>
          <p:nvPr/>
        </p:nvSpPr>
        <p:spPr>
          <a:xfrm>
            <a:off x="960120" y="5916168"/>
            <a:ext cx="16367760" cy="32004"/>
          </a:xfrm>
          <a:prstGeom prst="rect">
            <a:avLst/>
          </a:prstGeom>
          <a:solidFill>
            <a:srgbClr val="000000"/>
          </a:solidFill>
          <a:ln>
            <a:noFill/>
          </a:ln>
        </p:spPr>
      </p:sp>
      <p:sp>
        <p:nvSpPr>
          <p:cNvPr id="12" name="Text 8"/>
          <p:cNvSpPr/>
          <p:nvPr/>
        </p:nvSpPr>
        <p:spPr>
          <a:xfrm>
            <a:off x="960120" y="6190488"/>
            <a:ext cx="7818120" cy="2468880"/>
          </a:xfrm>
          <a:prstGeom prst="rect">
            <a:avLst/>
          </a:prstGeom>
          <a:noFill/>
          <a:ln/>
        </p:spPr>
        <p:txBody>
          <a:bodyPr wrap="square" lIns="0" tIns="0" rIns="0" bIns="0" rtlCol="0" anchor="t">
            <a:normAutofit/>
          </a:bodyPr>
          <a:lstStyle/>
          <a:p>
            <a:pPr indent="0" marL="0">
              <a:lnSpc>
                <a:spcPct val="118000"/>
              </a:lnSpc>
              <a:spcAft>
                <a:spcPts val="900"/>
              </a:spcAft>
              <a:buNone/>
            </a:pPr>
            <a:r>
              <a:rPr lang="en-US" sz="2500" b="1" dirty="0">
                <a:solidFill>
                  <a:srgbClr val="000000"/>
                </a:solidFill>
                <a:latin typeface="Calibri" pitchFamily="34" charset="0"/>
                <a:ea typeface="Calibri" pitchFamily="34" charset="-122"/>
                <a:cs typeface="Calibri" pitchFamily="34" charset="-120"/>
              </a:rPr>
              <a:t>The failure mode.  </a:t>
            </a:r>
            <a:pPr indent="0" marL="0">
              <a:lnSpc>
                <a:spcPct val="118000"/>
              </a:lnSpc>
              <a:spcAft>
                <a:spcPts val="900"/>
              </a:spcAft>
              <a:buNone/>
            </a:pPr>
            <a:r>
              <a:rPr lang="en-US" sz="2500" dirty="0">
                <a:solidFill>
                  <a:srgbClr val="1A1A1A"/>
                </a:solidFill>
                <a:latin typeface="Calibri" pitchFamily="34" charset="0"/>
                <a:ea typeface="Calibri" pitchFamily="34" charset="-122"/>
                <a:cs typeface="Calibri" pitchFamily="34" charset="-120"/>
              </a:rPr>
              <a:t>A model can miss a specialized question for no reason other than not knowing what one term means. Qwen-2.5-7B answers </a:t>
            </a:r>
            <a:pPr indent="0" marL="0">
              <a:lnSpc>
                <a:spcPct val="118000"/>
              </a:lnSpc>
              <a:spcAft>
                <a:spcPts val="900"/>
              </a:spcAft>
              <a:buNone/>
            </a:pPr>
            <a:r>
              <a:rPr lang="en-US" sz="2500" i="1" dirty="0">
                <a:solidFill>
                  <a:srgbClr val="1A1A1A"/>
                </a:solidFill>
                <a:latin typeface="Calibri" pitchFamily="34" charset="0"/>
                <a:ea typeface="Calibri" pitchFamily="34" charset="-122"/>
                <a:cs typeface="Calibri" pitchFamily="34" charset="-120"/>
              </a:rPr>
              <a:t>American Depositary Receipt</a:t>
            </a:r>
            <a:pPr indent="0" marL="0">
              <a:lnSpc>
                <a:spcPct val="118000"/>
              </a:lnSpc>
              <a:spcAft>
                <a:spcPts val="900"/>
              </a:spcAft>
              <a:buNone/>
            </a:pPr>
            <a:r>
              <a:rPr lang="en-US" sz="2500" dirty="0">
                <a:solidFill>
                  <a:srgbClr val="1A1A1A"/>
                </a:solidFill>
                <a:latin typeface="Calibri" pitchFamily="34" charset="0"/>
                <a:ea typeface="Calibri" pitchFamily="34" charset="-122"/>
                <a:cs typeface="Calibri" pitchFamily="34" charset="-120"/>
              </a:rPr>
              <a:t> where the answer is </a:t>
            </a:r>
            <a:pPr indent="0" marL="0">
              <a:lnSpc>
                <a:spcPct val="118000"/>
              </a:lnSpc>
              <a:spcAft>
                <a:spcPts val="900"/>
              </a:spcAft>
              <a:buNone/>
            </a:pPr>
            <a:r>
              <a:rPr lang="en-US" sz="2500" i="1" dirty="0">
                <a:solidFill>
                  <a:srgbClr val="1A1A1A"/>
                </a:solidFill>
                <a:latin typeface="Calibri" pitchFamily="34" charset="0"/>
                <a:ea typeface="Calibri" pitchFamily="34" charset="-122"/>
                <a:cs typeface="Calibri" pitchFamily="34" charset="-120"/>
              </a:rPr>
              <a:t>Guilder Share</a:t>
            </a:r>
            <a:pPr indent="0" marL="0">
              <a:lnSpc>
                <a:spcPct val="118000"/>
              </a:lnSpc>
              <a:spcAft>
                <a:spcPts val="900"/>
              </a:spcAft>
              <a:buNone/>
            </a:pPr>
            <a:r>
              <a:rPr lang="en-US" sz="2500" dirty="0">
                <a:solidFill>
                  <a:srgbClr val="1A1A1A"/>
                </a:solidFill>
                <a:latin typeface="Calibri" pitchFamily="34" charset="0"/>
                <a:ea typeface="Calibri" pitchFamily="34" charset="-122"/>
                <a:cs typeface="Calibri" pitchFamily="34" charset="-120"/>
              </a:rPr>
              <a:t>. One sentence of Investopedia flips it.</a:t>
            </a:r>
            <a:endParaRPr lang="en-US" sz="2500" dirty="0"/>
          </a:p>
        </p:txBody>
      </p:sp>
      <p:sp>
        <p:nvSpPr>
          <p:cNvPr id="13" name="Text 9"/>
          <p:cNvSpPr/>
          <p:nvPr/>
        </p:nvSpPr>
        <p:spPr>
          <a:xfrm>
            <a:off x="960120" y="8860536"/>
            <a:ext cx="7818120" cy="1645920"/>
          </a:xfrm>
          <a:prstGeom prst="rect">
            <a:avLst/>
          </a:prstGeom>
          <a:noFill/>
          <a:ln/>
        </p:spPr>
        <p:txBody>
          <a:bodyPr wrap="square" lIns="0" tIns="0" rIns="0" bIns="0" rtlCol="0" anchor="t">
            <a:normAutofit/>
          </a:bodyPr>
          <a:lstStyle/>
          <a:p>
            <a:pPr indent="0" marL="0">
              <a:lnSpc>
                <a:spcPct val="118000"/>
              </a:lnSpc>
              <a:spcAft>
                <a:spcPts val="900"/>
              </a:spcAft>
              <a:buNone/>
            </a:pPr>
            <a:r>
              <a:rPr lang="en-US" sz="2500" b="1" dirty="0">
                <a:solidFill>
                  <a:srgbClr val="000000"/>
                </a:solidFill>
                <a:latin typeface="Calibri" pitchFamily="34" charset="0"/>
                <a:ea typeface="Calibri" pitchFamily="34" charset="-122"/>
                <a:cs typeface="Calibri" pitchFamily="34" charset="-120"/>
              </a:rPr>
              <a:t>Scale has not removed it.  </a:t>
            </a:r>
            <a:pPr indent="0" marL="0">
              <a:lnSpc>
                <a:spcPct val="118000"/>
              </a:lnSpc>
              <a:spcAft>
                <a:spcPts val="900"/>
              </a:spcAft>
              <a:buNone/>
            </a:pPr>
            <a:r>
              <a:rPr lang="en-US" sz="2500" dirty="0">
                <a:solidFill>
                  <a:srgbClr val="1A1A1A"/>
                </a:solidFill>
                <a:latin typeface="Calibri" pitchFamily="34" charset="0"/>
                <a:ea typeface="Calibri" pitchFamily="34" charset="-122"/>
                <a:cs typeface="Calibri" pitchFamily="34" charset="-120"/>
              </a:rPr>
              <a:t>On MMLU finance subjects a frontier model still misses </a:t>
            </a:r>
            <a:pPr indent="0" marL="0">
              <a:lnSpc>
                <a:spcPct val="118000"/>
              </a:lnSpc>
              <a:spcAft>
                <a:spcPts val="900"/>
              </a:spcAft>
              <a:buNone/>
            </a:pPr>
            <a:r>
              <a:rPr lang="en-US" sz="2500" b="1" dirty="0">
                <a:solidFill>
                  <a:srgbClr val="1A1A1A"/>
                </a:solidFill>
                <a:latin typeface="Calibri" pitchFamily="34" charset="0"/>
                <a:ea typeface="Calibri" pitchFamily="34" charset="-122"/>
                <a:cs typeface="Calibri" pitchFamily="34" charset="-120"/>
              </a:rPr>
              <a:t>one question in eight</a:t>
            </a:r>
            <a:pPr indent="0" marL="0">
              <a:lnSpc>
                <a:spcPct val="118000"/>
              </a:lnSpc>
              <a:spcAft>
                <a:spcPts val="900"/>
              </a:spcAft>
              <a:buNone/>
            </a:pPr>
            <a:r>
              <a:rPr lang="en-US" sz="2500" dirty="0">
                <a:solidFill>
                  <a:srgbClr val="1A1A1A"/>
                </a:solidFill>
                <a:latin typeface="Calibri" pitchFamily="34" charset="0"/>
                <a:ea typeface="Calibri" pitchFamily="34" charset="-122"/>
                <a:cs typeface="Calibri" pitchFamily="34" charset="-120"/>
              </a:rPr>
              <a:t>; 7–8B models miss </a:t>
            </a:r>
            <a:pPr indent="0" marL="0">
              <a:lnSpc>
                <a:spcPct val="118000"/>
              </a:lnSpc>
              <a:spcAft>
                <a:spcPts val="900"/>
              </a:spcAft>
              <a:buNone/>
            </a:pPr>
            <a:r>
              <a:rPr lang="en-US" sz="2500" b="1" dirty="0">
                <a:solidFill>
                  <a:srgbClr val="1A1A1A"/>
                </a:solidFill>
                <a:latin typeface="Calibri" pitchFamily="34" charset="0"/>
                <a:ea typeface="Calibri" pitchFamily="34" charset="-122"/>
                <a:cs typeface="Calibri" pitchFamily="34" charset="-120"/>
              </a:rPr>
              <a:t>40–50%</a:t>
            </a:r>
            <a:pPr indent="0" marL="0">
              <a:lnSpc>
                <a:spcPct val="118000"/>
              </a:lnSpc>
              <a:spcAft>
                <a:spcPts val="900"/>
              </a:spcAft>
              <a:buNone/>
            </a:pPr>
            <a:r>
              <a:rPr lang="en-US" sz="2500" dirty="0">
                <a:solidFill>
                  <a:srgbClr val="1A1A1A"/>
                </a:solidFill>
                <a:latin typeface="Calibri" pitchFamily="34" charset="0"/>
                <a:ea typeface="Calibri" pitchFamily="34" charset="-122"/>
                <a:cs typeface="Calibri" pitchFamily="34" charset="-120"/>
              </a:rPr>
              <a:t>.</a:t>
            </a:r>
            <a:endParaRPr lang="en-US" sz="2500" dirty="0"/>
          </a:p>
        </p:txBody>
      </p:sp>
      <p:sp>
        <p:nvSpPr>
          <p:cNvPr id="14" name="Text 10"/>
          <p:cNvSpPr/>
          <p:nvPr/>
        </p:nvSpPr>
        <p:spPr>
          <a:xfrm>
            <a:off x="9509760" y="6190488"/>
            <a:ext cx="7818120" cy="1828800"/>
          </a:xfrm>
          <a:prstGeom prst="rect">
            <a:avLst/>
          </a:prstGeom>
          <a:noFill/>
          <a:ln/>
        </p:spPr>
        <p:txBody>
          <a:bodyPr wrap="square" lIns="0" tIns="0" rIns="0" bIns="0" rtlCol="0" anchor="t">
            <a:normAutofit/>
          </a:bodyPr>
          <a:lstStyle/>
          <a:p>
            <a:pPr indent="0" marL="0">
              <a:lnSpc>
                <a:spcPct val="118000"/>
              </a:lnSpc>
              <a:spcAft>
                <a:spcPts val="900"/>
              </a:spcAft>
              <a:buNone/>
            </a:pPr>
            <a:r>
              <a:rPr lang="en-US" sz="2500" b="1" dirty="0">
                <a:solidFill>
                  <a:srgbClr val="000000"/>
                </a:solidFill>
                <a:latin typeface="Calibri" pitchFamily="34" charset="0"/>
                <a:ea typeface="Calibri" pitchFamily="34" charset="-122"/>
                <a:cs typeface="Calibri" pitchFamily="34" charset="-120"/>
              </a:rPr>
              <a:t>Why a glossary definition.  </a:t>
            </a:r>
            <a:pPr indent="0" marL="0">
              <a:lnSpc>
                <a:spcPct val="118000"/>
              </a:lnSpc>
              <a:spcAft>
                <a:spcPts val="900"/>
              </a:spcAft>
              <a:buNone/>
            </a:pPr>
            <a:r>
              <a:rPr lang="en-US" sz="2500" dirty="0">
                <a:solidFill>
                  <a:srgbClr val="1A1A1A"/>
                </a:solidFill>
                <a:latin typeface="Calibri" pitchFamily="34" charset="0"/>
                <a:ea typeface="Calibri" pitchFamily="34" charset="-122"/>
                <a:cs typeface="Calibri" pitchFamily="34" charset="-120"/>
              </a:rPr>
              <a:t>It is the smallest and most auditable payload a retriever can inject, and the only one whose content can be checked term by term.</a:t>
            </a:r>
            <a:endParaRPr lang="en-US" sz="2500" dirty="0"/>
          </a:p>
        </p:txBody>
      </p:sp>
      <p:sp>
        <p:nvSpPr>
          <p:cNvPr id="15" name="Text 11"/>
          <p:cNvSpPr/>
          <p:nvPr/>
        </p:nvSpPr>
        <p:spPr>
          <a:xfrm>
            <a:off x="9509760" y="8220456"/>
            <a:ext cx="7818120" cy="1737360"/>
          </a:xfrm>
          <a:prstGeom prst="rect">
            <a:avLst/>
          </a:prstGeom>
          <a:noFill/>
          <a:ln/>
        </p:spPr>
        <p:txBody>
          <a:bodyPr wrap="square" lIns="0" tIns="0" rIns="0" bIns="0" rtlCol="0" anchor="t">
            <a:normAutofit/>
          </a:bodyPr>
          <a:lstStyle/>
          <a:p>
            <a:pPr indent="0" marL="0">
              <a:lnSpc>
                <a:spcPct val="118000"/>
              </a:lnSpc>
              <a:spcAft>
                <a:spcPts val="900"/>
              </a:spcAft>
              <a:buNone/>
            </a:pPr>
            <a:r>
              <a:rPr lang="en-US" sz="2500" b="1" dirty="0">
                <a:solidFill>
                  <a:srgbClr val="000000"/>
                </a:solidFill>
                <a:latin typeface="Calibri" pitchFamily="34" charset="0"/>
                <a:ea typeface="Calibri" pitchFamily="34" charset="-122"/>
                <a:cs typeface="Calibri" pitchFamily="34" charset="-120"/>
              </a:rPr>
              <a:t>Two operational levels.  </a:t>
            </a:r>
            <a:pPr indent="0" marL="0">
              <a:lnSpc>
                <a:spcPct val="118000"/>
              </a:lnSpc>
              <a:spcAft>
                <a:spcPts val="900"/>
              </a:spcAft>
              <a:buNone/>
            </a:pPr>
            <a:r>
              <a:rPr lang="en-US" sz="2500" dirty="0">
                <a:solidFill>
                  <a:srgbClr val="1A1A1A"/>
                </a:solidFill>
                <a:latin typeface="Calibri" pitchFamily="34" charset="0"/>
                <a:ea typeface="Calibri" pitchFamily="34" charset="-122"/>
                <a:cs typeface="Calibri" pitchFamily="34" charset="-120"/>
              </a:rPr>
              <a:t>One signal, term knowledge: a diagnostic of what a model holds, and the control for a selective retrieval policy.</a:t>
            </a:r>
            <a:endParaRPr lang="en-US" sz="2500" dirty="0"/>
          </a:p>
        </p:txBody>
      </p:sp>
      <p:sp>
        <p:nvSpPr>
          <p:cNvPr id="16" name="Shape 12"/>
          <p:cNvSpPr/>
          <p:nvPr/>
        </p:nvSpPr>
        <p:spPr>
          <a:xfrm>
            <a:off x="960120" y="10799064"/>
            <a:ext cx="16367760" cy="2377440"/>
          </a:xfrm>
          <a:prstGeom prst="rect">
            <a:avLst/>
          </a:prstGeom>
          <a:solidFill>
            <a:srgbClr val="F5F5F3"/>
          </a:solidFill>
          <a:ln>
            <a:noFill/>
          </a:ln>
        </p:spPr>
      </p:sp>
      <p:sp>
        <p:nvSpPr>
          <p:cNvPr id="17" name="Shape 13"/>
          <p:cNvSpPr/>
          <p:nvPr/>
        </p:nvSpPr>
        <p:spPr>
          <a:xfrm>
            <a:off x="960120" y="10799064"/>
            <a:ext cx="68580" cy="2377440"/>
          </a:xfrm>
          <a:prstGeom prst="rect">
            <a:avLst/>
          </a:prstGeom>
          <a:solidFill>
            <a:srgbClr val="000000"/>
          </a:solidFill>
          <a:ln>
            <a:noFill/>
          </a:ln>
        </p:spPr>
      </p:sp>
      <p:sp>
        <p:nvSpPr>
          <p:cNvPr id="18" name="Text 14"/>
          <p:cNvSpPr/>
          <p:nvPr/>
        </p:nvSpPr>
        <p:spPr>
          <a:xfrm>
            <a:off x="1307592" y="10799064"/>
            <a:ext cx="15727680" cy="2377440"/>
          </a:xfrm>
          <a:prstGeom prst="rect">
            <a:avLst/>
          </a:prstGeom>
          <a:noFill/>
          <a:ln/>
        </p:spPr>
        <p:txBody>
          <a:bodyPr wrap="square" lIns="0" tIns="0" rIns="0" bIns="0" rtlCol="0" anchor="ctr">
            <a:normAutofit/>
          </a:bodyPr>
          <a:lstStyle/>
          <a:p>
            <a:pPr indent="0" marL="0">
              <a:lnSpc>
                <a:spcPct val="116000"/>
              </a:lnSpc>
              <a:buNone/>
            </a:pPr>
            <a:r>
              <a:rPr lang="en-US" sz="2500" b="1" dirty="0">
                <a:solidFill>
                  <a:srgbClr val="1A1A1A"/>
                </a:solidFill>
                <a:latin typeface="Calibri" pitchFamily="34" charset="0"/>
                <a:ea typeface="Calibri" pitchFamily="34" charset="-122"/>
                <a:cs typeface="Calibri" pitchFamily="34" charset="-120"/>
              </a:rPr>
              <a:t>RQ1    Does injecting a retrieved definition improve financial QA on average?</a:t>
            </a:r>
            <a:endParaRPr lang="en-US" sz="2500" dirty="0"/>
          </a:p>
          <a:p>
            <a:pPr indent="0" marL="0">
              <a:lnSpc>
                <a:spcPct val="116000"/>
              </a:lnSpc>
              <a:buNone/>
            </a:pPr>
            <a:r>
              <a:rPr lang="en-US" sz="2500" b="1" dirty="0">
                <a:solidFill>
                  <a:srgbClr val="1A1A1A"/>
                </a:solidFill>
                <a:latin typeface="Calibri" pitchFamily="34" charset="0"/>
                <a:ea typeface="Calibri" pitchFamily="34" charset="-122"/>
                <a:cs typeface="Calibri" pitchFamily="34" charset="-120"/>
              </a:rPr>
              <a:t>RQ2    Can the model’s own term knowledge say, per question, whether it is needed?</a:t>
            </a:r>
            <a:endParaRPr lang="en-US" sz="2500" dirty="0"/>
          </a:p>
        </p:txBody>
      </p:sp>
      <p:sp>
        <p:nvSpPr>
          <p:cNvPr id="19" name="Shape 15"/>
          <p:cNvSpPr/>
          <p:nvPr/>
        </p:nvSpPr>
        <p:spPr>
          <a:xfrm>
            <a:off x="17986248" y="5074920"/>
            <a:ext cx="11329416" cy="841248"/>
          </a:xfrm>
          <a:prstGeom prst="rect">
            <a:avLst/>
          </a:prstGeom>
          <a:solidFill>
            <a:srgbClr val="ECECEC"/>
          </a:solidFill>
          <a:ln>
            <a:noFill/>
          </a:ln>
        </p:spPr>
      </p:sp>
      <p:sp>
        <p:nvSpPr>
          <p:cNvPr id="20" name="Text 16"/>
          <p:cNvSpPr/>
          <p:nvPr/>
        </p:nvSpPr>
        <p:spPr>
          <a:xfrm>
            <a:off x="18260568" y="5074920"/>
            <a:ext cx="10780776" cy="841248"/>
          </a:xfrm>
          <a:prstGeom prst="rect">
            <a:avLst/>
          </a:prstGeom>
          <a:noFill/>
          <a:ln/>
        </p:spPr>
        <p:txBody>
          <a:bodyPr wrap="square" lIns="0" tIns="0" rIns="0" bIns="0" rtlCol="0" anchor="ctr"/>
          <a:lstStyle/>
          <a:p>
            <a:pPr indent="0" marL="0">
              <a:buNone/>
            </a:pPr>
            <a:r>
              <a:rPr lang="en-US" sz="3400" b="1" dirty="0">
                <a:solidFill>
                  <a:srgbClr val="000000"/>
                </a:solidFill>
                <a:latin typeface="Georgia" pitchFamily="34" charset="0"/>
                <a:ea typeface="Georgia" pitchFamily="34" charset="-122"/>
                <a:cs typeface="Georgia" pitchFamily="34" charset="-120"/>
              </a:rPr>
              <a:t>Related work</a:t>
            </a:r>
            <a:endParaRPr lang="en-US" sz="3400" dirty="0"/>
          </a:p>
        </p:txBody>
      </p:sp>
      <p:sp>
        <p:nvSpPr>
          <p:cNvPr id="21" name="Shape 17"/>
          <p:cNvSpPr/>
          <p:nvPr/>
        </p:nvSpPr>
        <p:spPr>
          <a:xfrm>
            <a:off x="17986248" y="5916168"/>
            <a:ext cx="11329416" cy="32004"/>
          </a:xfrm>
          <a:prstGeom prst="rect">
            <a:avLst/>
          </a:prstGeom>
          <a:solidFill>
            <a:srgbClr val="000000"/>
          </a:solidFill>
          <a:ln>
            <a:noFill/>
          </a:ln>
        </p:spPr>
      </p:sp>
      <p:sp>
        <p:nvSpPr>
          <p:cNvPr id="22" name="Text 18"/>
          <p:cNvSpPr/>
          <p:nvPr/>
        </p:nvSpPr>
        <p:spPr>
          <a:xfrm>
            <a:off x="17986248" y="6190488"/>
            <a:ext cx="11329416" cy="192024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Definition modeling</a:t>
            </a:r>
            <a:endParaRPr lang="en-US" sz="2400" dirty="0"/>
          </a:p>
          <a:p>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probes what a model has internalized about a domain.</a:t>
            </a:r>
            <a:endParaRPr lang="en-US" sz="2400" dirty="0"/>
          </a:p>
          <a:p>
            <a:pPr lvl="1" marL="685800" indent="-342900">
              <a:lnSpc>
                <a:spcPct val="118000"/>
              </a:lnSpc>
              <a:spcAft>
                <a:spcPts val="900"/>
              </a:spcAft>
              <a:buSzPct val="100000"/>
              <a:buChar char="▪"/>
            </a:pPr>
            <a:r>
              <a:rPr lang="en-US" sz="2400" dirty="0">
                <a:solidFill>
                  <a:srgbClr val="4A4A4A"/>
                </a:solidFill>
                <a:latin typeface="Calibri" pitchFamily="34" charset="0"/>
                <a:ea typeface="Calibri" pitchFamily="34" charset="-122"/>
                <a:cs typeface="Calibri" pitchFamily="34" charset="-120"/>
              </a:rPr>
              <a:t>Noraset et al. 2017; Gardner et al. 2022</a:t>
            </a:r>
            <a:endParaRPr lang="en-US" sz="2400" dirty="0"/>
          </a:p>
          <a:p>
            <a:pPr lvl="1" marL="685800" indent="-342900">
              <a:lnSpc>
                <a:spcPct val="118000"/>
              </a:lnSpc>
              <a:spcAft>
                <a:spcPts val="900"/>
              </a:spcAft>
              <a:buSzPct val="100000"/>
              <a:buChar char="▪"/>
            </a:pPr>
            <a:r>
              <a:rPr lang="en-US" sz="2400" dirty="0">
                <a:solidFill>
                  <a:srgbClr val="4A4A4A"/>
                </a:solidFill>
                <a:latin typeface="Calibri" pitchFamily="34" charset="0"/>
                <a:ea typeface="Calibri" pitchFamily="34" charset="-122"/>
                <a:cs typeface="Calibri" pitchFamily="34" charset="-120"/>
              </a:rPr>
              <a:t>Finance: Jhirad et al. 2023.  Multilingual: Marrese-Taylor et al. 2025</a:t>
            </a:r>
            <a:endParaRPr lang="en-US" sz="2400" dirty="0"/>
          </a:p>
        </p:txBody>
      </p:sp>
      <p:sp>
        <p:nvSpPr>
          <p:cNvPr id="23" name="Text 19"/>
          <p:cNvSpPr/>
          <p:nvPr/>
        </p:nvSpPr>
        <p:spPr>
          <a:xfrm>
            <a:off x="17986248" y="8311896"/>
            <a:ext cx="11329416" cy="182880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Selective and adaptive RAG</a:t>
            </a:r>
            <a:endParaRPr lang="en-US" sz="2400" dirty="0"/>
          </a:p>
          <a:p>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assumes some observable property of the question or model state carries enough signal to route between retrieve and no-retrieve.</a:t>
            </a:r>
            <a:endParaRPr lang="en-US" sz="2400" dirty="0"/>
          </a:p>
          <a:p>
            <a:pPr lvl="1" marL="685800" indent="-342900">
              <a:lnSpc>
                <a:spcPct val="118000"/>
              </a:lnSpc>
              <a:spcAft>
                <a:spcPts val="900"/>
              </a:spcAft>
              <a:buSzPct val="100000"/>
              <a:buChar char="▪"/>
            </a:pPr>
            <a:r>
              <a:rPr lang="en-US" sz="2400" dirty="0">
                <a:solidFill>
                  <a:srgbClr val="4A4A4A"/>
                </a:solidFill>
                <a:latin typeface="Calibri" pitchFamily="34" charset="0"/>
                <a:ea typeface="Calibri" pitchFamily="34" charset="-122"/>
                <a:cs typeface="Calibri" pitchFamily="34" charset="-120"/>
              </a:rPr>
              <a:t>Lewis et al. 2020; Asai et al. 2024; Jeong et al. 2024</a:t>
            </a:r>
            <a:endParaRPr lang="en-US" sz="2400" dirty="0"/>
          </a:p>
        </p:txBody>
      </p:sp>
      <p:sp>
        <p:nvSpPr>
          <p:cNvPr id="24" name="Text 20"/>
          <p:cNvSpPr/>
          <p:nvPr/>
        </p:nvSpPr>
        <p:spPr>
          <a:xfrm>
            <a:off x="17986248" y="10341864"/>
            <a:ext cx="11329416" cy="178308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Uncertainty-style routing baselines</a:t>
            </a:r>
            <a:endParaRPr lang="en-US" sz="2400" dirty="0"/>
          </a:p>
          <a:p>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Semantic entropy (Farquhar et al. 2024) and option-margin signals.</a:t>
            </a:r>
            <a:endParaRPr lang="en-US" sz="2400" dirty="0"/>
          </a:p>
          <a:p>
            <a:pPr lvl="1" marL="685800" indent="-342900">
              <a:lnSpc>
                <a:spcPct val="118000"/>
              </a:lnSpc>
              <a:spcAft>
                <a:spcPts val="900"/>
              </a:spcAft>
              <a:buSzPct val="100000"/>
              <a:buChar char="▪"/>
            </a:pPr>
            <a:r>
              <a:rPr lang="en-US" sz="2400" dirty="0">
                <a:solidFill>
                  <a:srgbClr val="4A4A4A"/>
                </a:solidFill>
                <a:latin typeface="Calibri" pitchFamily="34" charset="0"/>
                <a:ea typeface="Calibri" pitchFamily="34" charset="-122"/>
                <a:cs typeface="Calibri" pitchFamily="34" charset="-120"/>
              </a:rPr>
              <a:t>Wang et al. 2024: first-token MCQ scoring can disagree with the model’s final text answer.</a:t>
            </a:r>
            <a:endParaRPr lang="en-US" sz="2400" dirty="0"/>
          </a:p>
        </p:txBody>
      </p:sp>
      <p:sp>
        <p:nvSpPr>
          <p:cNvPr id="25" name="Text 21"/>
          <p:cNvSpPr/>
          <p:nvPr/>
        </p:nvSpPr>
        <p:spPr>
          <a:xfrm>
            <a:off x="17986248" y="12371832"/>
            <a:ext cx="11329416" cy="146304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We test the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narrowest version</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of that assumption in finance, using definition-level term knowledge, the most semantically transparent candidate signal this domain offers.</a:t>
            </a:r>
            <a:endParaRPr lang="en-US" sz="2400" dirty="0"/>
          </a:p>
        </p:txBody>
      </p:sp>
      <p:sp>
        <p:nvSpPr>
          <p:cNvPr id="26" name="Shape 22"/>
          <p:cNvSpPr/>
          <p:nvPr/>
        </p:nvSpPr>
        <p:spPr>
          <a:xfrm>
            <a:off x="960120" y="14310360"/>
            <a:ext cx="28355544" cy="841248"/>
          </a:xfrm>
          <a:prstGeom prst="rect">
            <a:avLst/>
          </a:prstGeom>
          <a:solidFill>
            <a:srgbClr val="ECECEC"/>
          </a:solidFill>
          <a:ln>
            <a:noFill/>
          </a:ln>
        </p:spPr>
      </p:sp>
      <p:sp>
        <p:nvSpPr>
          <p:cNvPr id="27" name="Text 23"/>
          <p:cNvSpPr/>
          <p:nvPr/>
        </p:nvSpPr>
        <p:spPr>
          <a:xfrm>
            <a:off x="1234440" y="14310360"/>
            <a:ext cx="27806904" cy="841248"/>
          </a:xfrm>
          <a:prstGeom prst="rect">
            <a:avLst/>
          </a:prstGeom>
          <a:noFill/>
          <a:ln/>
        </p:spPr>
        <p:txBody>
          <a:bodyPr wrap="square" lIns="0" tIns="0" rIns="0" bIns="0" rtlCol="0" anchor="ctr"/>
          <a:lstStyle/>
          <a:p>
            <a:pPr indent="0" marL="0">
              <a:buNone/>
            </a:pPr>
            <a:r>
              <a:rPr lang="en-US" sz="3400" b="1" dirty="0">
                <a:solidFill>
                  <a:srgbClr val="000000"/>
                </a:solidFill>
                <a:latin typeface="Georgia" pitchFamily="34" charset="0"/>
                <a:ea typeface="Georgia" pitchFamily="34" charset="-122"/>
                <a:cs typeface="Georgia" pitchFamily="34" charset="-120"/>
              </a:rPr>
              <a:t>Method and Data</a:t>
            </a:r>
            <a:endParaRPr lang="en-US" sz="3400" dirty="0"/>
          </a:p>
        </p:txBody>
      </p:sp>
      <p:sp>
        <p:nvSpPr>
          <p:cNvPr id="28" name="Shape 24"/>
          <p:cNvSpPr/>
          <p:nvPr/>
        </p:nvSpPr>
        <p:spPr>
          <a:xfrm>
            <a:off x="960120" y="15151608"/>
            <a:ext cx="28355544" cy="32004"/>
          </a:xfrm>
          <a:prstGeom prst="rect">
            <a:avLst/>
          </a:prstGeom>
          <a:solidFill>
            <a:srgbClr val="000000"/>
          </a:solidFill>
          <a:ln>
            <a:noFill/>
          </a:ln>
        </p:spPr>
      </p:sp>
      <p:sp>
        <p:nvSpPr>
          <p:cNvPr id="29" name="Shape 25"/>
          <p:cNvSpPr/>
          <p:nvPr/>
        </p:nvSpPr>
        <p:spPr>
          <a:xfrm>
            <a:off x="960120" y="15425928"/>
            <a:ext cx="8778240" cy="1600200"/>
          </a:xfrm>
          <a:prstGeom prst="rect">
            <a:avLst/>
          </a:prstGeom>
          <a:solidFill>
            <a:srgbClr val="F5F5F3"/>
          </a:solidFill>
          <a:ln>
            <a:noFill/>
          </a:ln>
        </p:spPr>
      </p:sp>
      <p:sp>
        <p:nvSpPr>
          <p:cNvPr id="30" name="Shape 26"/>
          <p:cNvSpPr/>
          <p:nvPr/>
        </p:nvSpPr>
        <p:spPr>
          <a:xfrm>
            <a:off x="960120" y="15425928"/>
            <a:ext cx="68580" cy="1600200"/>
          </a:xfrm>
          <a:prstGeom prst="rect">
            <a:avLst/>
          </a:prstGeom>
          <a:solidFill>
            <a:srgbClr val="000000"/>
          </a:solidFill>
          <a:ln>
            <a:noFill/>
          </a:ln>
        </p:spPr>
      </p:sp>
      <p:sp>
        <p:nvSpPr>
          <p:cNvPr id="31" name="Text 27"/>
          <p:cNvSpPr/>
          <p:nvPr/>
        </p:nvSpPr>
        <p:spPr>
          <a:xfrm>
            <a:off x="1307592" y="15425928"/>
            <a:ext cx="8138160" cy="1600200"/>
          </a:xfrm>
          <a:prstGeom prst="rect">
            <a:avLst/>
          </a:prstGeom>
          <a:noFill/>
          <a:ln/>
        </p:spPr>
        <p:txBody>
          <a:bodyPr wrap="square" lIns="0" tIns="0" rIns="0" bIns="0" rtlCol="0" anchor="ctr">
            <a:normAutofit/>
          </a:bodyPr>
          <a:lstStyle/>
          <a:p>
            <a:pPr indent="0" marL="0">
              <a:lnSpc>
                <a:spcPct val="116000"/>
              </a:lnSpc>
              <a:buNone/>
            </a:pPr>
            <a:r>
              <a:rPr lang="en-US" sz="2400" b="1" dirty="0">
                <a:solidFill>
                  <a:srgbClr val="1A1A1A"/>
                </a:solidFill>
                <a:latin typeface="Calibri" pitchFamily="34" charset="0"/>
                <a:ea typeface="Calibri" pitchFamily="34" charset="-122"/>
                <a:cs typeface="Calibri" pitchFamily="34" charset="-120"/>
              </a:rPr>
              <a:t>Diagnostic.</a:t>
            </a:r>
            <a:pPr indent="0" marL="0">
              <a:lnSpc>
                <a:spcPct val="116000"/>
              </a:lnSpc>
              <a:buNone/>
            </a:pPr>
            <a:r>
              <a:rPr lang="en-US" sz="2400" dirty="0">
                <a:solidFill>
                  <a:srgbClr val="1A1A1A"/>
                </a:solidFill>
                <a:latin typeface="Calibri" pitchFamily="34" charset="0"/>
                <a:ea typeface="Calibri" pitchFamily="34" charset="-122"/>
                <a:cs typeface="Calibri" pitchFamily="34" charset="-120"/>
              </a:rPr>
              <a:t>  The model writes the definition itself. Measures what it already holds, no retrieval.</a:t>
            </a:r>
            <a:endParaRPr lang="en-US" sz="2400" dirty="0"/>
          </a:p>
        </p:txBody>
      </p:sp>
      <p:sp>
        <p:nvSpPr>
          <p:cNvPr id="32" name="Shape 28"/>
          <p:cNvSpPr/>
          <p:nvPr/>
        </p:nvSpPr>
        <p:spPr>
          <a:xfrm>
            <a:off x="960120" y="17300448"/>
            <a:ext cx="8778240" cy="1600200"/>
          </a:xfrm>
          <a:prstGeom prst="rect">
            <a:avLst/>
          </a:prstGeom>
          <a:solidFill>
            <a:srgbClr val="F5F5F3"/>
          </a:solidFill>
          <a:ln>
            <a:noFill/>
          </a:ln>
        </p:spPr>
      </p:sp>
      <p:sp>
        <p:nvSpPr>
          <p:cNvPr id="33" name="Shape 29"/>
          <p:cNvSpPr/>
          <p:nvPr/>
        </p:nvSpPr>
        <p:spPr>
          <a:xfrm>
            <a:off x="960120" y="17300448"/>
            <a:ext cx="68580" cy="1600200"/>
          </a:xfrm>
          <a:prstGeom prst="rect">
            <a:avLst/>
          </a:prstGeom>
          <a:solidFill>
            <a:srgbClr val="000000"/>
          </a:solidFill>
          <a:ln>
            <a:noFill/>
          </a:ln>
        </p:spPr>
      </p:sp>
      <p:sp>
        <p:nvSpPr>
          <p:cNvPr id="34" name="Text 30"/>
          <p:cNvSpPr/>
          <p:nvPr/>
        </p:nvSpPr>
        <p:spPr>
          <a:xfrm>
            <a:off x="1307592" y="17300448"/>
            <a:ext cx="8138160" cy="1600200"/>
          </a:xfrm>
          <a:prstGeom prst="rect">
            <a:avLst/>
          </a:prstGeom>
          <a:noFill/>
          <a:ln/>
        </p:spPr>
        <p:txBody>
          <a:bodyPr wrap="square" lIns="0" tIns="0" rIns="0" bIns="0" rtlCol="0" anchor="ctr">
            <a:normAutofit/>
          </a:bodyPr>
          <a:lstStyle/>
          <a:p>
            <a:pPr indent="0" marL="0">
              <a:lnSpc>
                <a:spcPct val="116000"/>
              </a:lnSpc>
              <a:buNone/>
            </a:pPr>
            <a:r>
              <a:rPr lang="en-US" sz="2400" b="1" dirty="0">
                <a:solidFill>
                  <a:srgbClr val="1A1A1A"/>
                </a:solidFill>
                <a:latin typeface="Calibri" pitchFamily="34" charset="0"/>
                <a:ea typeface="Calibri" pitchFamily="34" charset="-122"/>
                <a:cs typeface="Calibri" pitchFamily="34" charset="-120"/>
              </a:rPr>
              <a:t>Interventional.</a:t>
            </a:r>
            <a:pPr indent="0" marL="0">
              <a:lnSpc>
                <a:spcPct val="116000"/>
              </a:lnSpc>
              <a:buNone/>
            </a:pPr>
            <a:r>
              <a:rPr lang="en-US" sz="2400" dirty="0">
                <a:solidFill>
                  <a:srgbClr val="1A1A1A"/>
                </a:solidFill>
                <a:latin typeface="Calibri" pitchFamily="34" charset="0"/>
                <a:ea typeface="Calibri" pitchFamily="34" charset="-122"/>
                <a:cs typeface="Calibri" pitchFamily="34" charset="-120"/>
              </a:rPr>
              <a:t>  We supply gold definitions through retrieval and measure what changes downstream.</a:t>
            </a:r>
            <a:endParaRPr lang="en-US" sz="2400" dirty="0"/>
          </a:p>
        </p:txBody>
      </p:sp>
      <p:sp>
        <p:nvSpPr>
          <p:cNvPr id="35" name="Text 31"/>
          <p:cNvSpPr/>
          <p:nvPr/>
        </p:nvSpPr>
        <p:spPr>
          <a:xfrm>
            <a:off x="960120" y="19174968"/>
            <a:ext cx="8778240" cy="210312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Model panel.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Qwen-2.5-7B and 14B, Llama-3.1-8B, Mistral-Small-24B, GPT-5.2: four families from 7B to a frontier closed model, so a capability-dependent effect is separable from a universal one.</a:t>
            </a:r>
            <a:endParaRPr lang="en-US" sz="2400" dirty="0"/>
          </a:p>
        </p:txBody>
      </p:sp>
      <p:sp>
        <p:nvSpPr>
          <p:cNvPr id="36" name="Text 32"/>
          <p:cNvSpPr/>
          <p:nvPr/>
        </p:nvSpPr>
        <p:spPr>
          <a:xfrm>
            <a:off x="10424160" y="15425928"/>
            <a:ext cx="8778240" cy="274320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Retrieval pipeline.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A lexical retriever and a dense sentence-encoder each propose candidates from a fixed glossary of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13,609</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Investopedia terms, the two ranked lists are fused, a cross-encoder reranks them, and the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top-3</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snippets are injected above the question stem. Option letters are scored by log-probability at temperature 0, fixed across every experiment.</a:t>
            </a:r>
            <a:endParaRPr lang="en-US" sz="2400" dirty="0"/>
          </a:p>
        </p:txBody>
      </p:sp>
      <p:sp>
        <p:nvSpPr>
          <p:cNvPr id="37" name="Text 33"/>
          <p:cNvSpPr/>
          <p:nvPr/>
        </p:nvSpPr>
        <p:spPr>
          <a:xfrm>
            <a:off x="10424160" y="18370296"/>
            <a:ext cx="8778240" cy="237744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Paired evaluation.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Every question is answered twice, with the definitions and without, so each lands in one of four states: correct in both,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fixed</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broken</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or wrong in both. Net gain is the fix rate minus the break rate, and an oracle that retrieved only where it helps would collect the fixes without paying the breaks.</a:t>
            </a:r>
            <a:endParaRPr lang="en-US" sz="2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9888200" y="15425928"/>
          <a:ext cx="9427464" cy="914400"/>
        </p:xfrm>
        <a:graphic>
          <a:graphicData uri="http://schemas.openxmlformats.org/drawingml/2006/table">
            <a:tbl>
              <a:tblPr/>
              <a:tblGrid>
                <a:gridCol w="3824349"/>
                <a:gridCol w="2045582"/>
                <a:gridCol w="3557534"/>
              </a:tblGrid>
              <a:tr h="475488">
                <a:tc>
                  <a:txBody>
                    <a:bodyPr/>
                    <a:lstStyle/>
                    <a:p>
                      <a:pPr algn="l" indent="0" marL="0">
                        <a:buNone/>
                      </a:pPr>
                      <a:r>
                        <a:rPr lang="en-US" sz="2300" b="1" dirty="0">
                          <a:solidFill>
                            <a:srgbClr val="1A1A1A"/>
                          </a:solidFill>
                          <a:latin typeface="Calibri" pitchFamily="34" charset="0"/>
                          <a:ea typeface="Calibri" pitchFamily="34" charset="-122"/>
                          <a:cs typeface="Calibri" pitchFamily="34" charset="-120"/>
                        </a:rPr>
                        <a:t>Resource</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A1A1A"/>
                          </a:solidFill>
                          <a:latin typeface="Calibri" pitchFamily="34" charset="0"/>
                          <a:ea typeface="Calibri" pitchFamily="34" charset="-122"/>
                          <a:cs typeface="Calibri" pitchFamily="34" charset="-120"/>
                        </a:rPr>
                        <a:t>Size</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A1A1A"/>
                          </a:solidFill>
                          <a:latin typeface="Calibri" pitchFamily="34" charset="0"/>
                          <a:ea typeface="Calibri" pitchFamily="34" charset="-122"/>
                          <a:cs typeface="Calibri" pitchFamily="34" charset="-120"/>
                        </a:rPr>
                        <a:t>Role</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Investopedia glossary</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13,609</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index + reference</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MMLU Finance</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1,124 q</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primary benchmark</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XFinBench TU</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1,790 q</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replication</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Term annotation</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995 q</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per-question map</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Invented terms</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50</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memorisation control</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9" name="Shape 34"/>
          <p:cNvSpPr/>
          <p:nvPr/>
        </p:nvSpPr>
        <p:spPr>
          <a:xfrm>
            <a:off x="19888200" y="15407640"/>
            <a:ext cx="9427464" cy="32004"/>
          </a:xfrm>
          <a:prstGeom prst="rect">
            <a:avLst/>
          </a:prstGeom>
          <a:solidFill>
            <a:srgbClr val="000000"/>
          </a:solidFill>
          <a:ln>
            <a:noFill/>
          </a:ln>
        </p:spPr>
      </p:sp>
      <p:sp>
        <p:nvSpPr>
          <p:cNvPr id="40" name="Shape 35"/>
          <p:cNvSpPr/>
          <p:nvPr/>
        </p:nvSpPr>
        <p:spPr>
          <a:xfrm>
            <a:off x="19888200" y="15887700"/>
            <a:ext cx="9427464" cy="18288"/>
          </a:xfrm>
          <a:prstGeom prst="rect">
            <a:avLst/>
          </a:prstGeom>
          <a:solidFill>
            <a:srgbClr val="4A4A4A"/>
          </a:solidFill>
          <a:ln>
            <a:noFill/>
          </a:ln>
        </p:spPr>
      </p:sp>
      <p:sp>
        <p:nvSpPr>
          <p:cNvPr id="41" name="Shape 36"/>
          <p:cNvSpPr/>
          <p:nvPr/>
        </p:nvSpPr>
        <p:spPr>
          <a:xfrm>
            <a:off x="19888200" y="18278856"/>
            <a:ext cx="9427464" cy="32004"/>
          </a:xfrm>
          <a:prstGeom prst="rect">
            <a:avLst/>
          </a:prstGeom>
          <a:solidFill>
            <a:srgbClr val="000000"/>
          </a:solidFill>
          <a:ln>
            <a:noFill/>
          </a:ln>
        </p:spPr>
      </p:sp>
      <p:sp>
        <p:nvSpPr>
          <p:cNvPr id="42" name="Text 37"/>
          <p:cNvSpPr/>
          <p:nvPr/>
        </p:nvSpPr>
        <p:spPr>
          <a:xfrm>
            <a:off x="19888200" y="18461736"/>
            <a:ext cx="9427464" cy="685800"/>
          </a:xfrm>
          <a:prstGeom prst="rect">
            <a:avLst/>
          </a:prstGeom>
          <a:noFill/>
          <a:ln/>
        </p:spPr>
        <p:txBody>
          <a:bodyPr wrap="square" lIns="0" tIns="0" rIns="0" bIns="0" rtlCol="0" anchor="ctr">
            <a:normAutofit/>
          </a:bodyPr>
          <a:lstStyle/>
          <a:p>
            <a:pPr indent="0" marL="0">
              <a:lnSpc>
                <a:spcPct val="112000"/>
              </a:lnSpc>
              <a:buNone/>
            </a:pPr>
            <a:r>
              <a:rPr lang="en-US" sz="2000" b="1" dirty="0">
                <a:solidFill>
                  <a:srgbClr val="4A4A4A"/>
                </a:solidFill>
                <a:latin typeface="Calibri" pitchFamily="34" charset="0"/>
                <a:ea typeface="Calibri" pitchFamily="34" charset="-122"/>
                <a:cs typeface="Calibri" pitchFamily="34" charset="-120"/>
              </a:rPr>
              <a:t>Table 1. </a:t>
            </a:r>
            <a:pPr indent="0" marL="0">
              <a:lnSpc>
                <a:spcPct val="112000"/>
              </a:lnSpc>
              <a:buNone/>
            </a:pPr>
            <a:r>
              <a:rPr lang="en-US" sz="2000" dirty="0">
                <a:solidFill>
                  <a:srgbClr val="4A4A4A"/>
                </a:solidFill>
                <a:latin typeface="Calibri" pitchFamily="34" charset="0"/>
                <a:ea typeface="Calibri" pitchFamily="34" charset="-122"/>
                <a:cs typeface="Calibri" pitchFamily="34" charset="-120"/>
              </a:rPr>
              <a:t>The glossary, the two benchmarks, and the resources derived from them.</a:t>
            </a:r>
            <a:endParaRPr lang="en-US" sz="2000" dirty="0"/>
          </a:p>
        </p:txBody>
      </p:sp>
      <p:sp>
        <p:nvSpPr>
          <p:cNvPr id="43" name="Text 38"/>
          <p:cNvSpPr/>
          <p:nvPr/>
        </p:nvSpPr>
        <p:spPr>
          <a:xfrm>
            <a:off x="19888200" y="19238976"/>
            <a:ext cx="9427464" cy="246888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Per-question term annotation.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No MMLU–Investopedia mapping existed, so we built one. Two LLM annotators proposed candidates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κ = 0.76</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the first author adjudicated all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2,233</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pairs by hand, leaving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995</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term-bearing questions.</a:t>
            </a:r>
            <a:endParaRPr lang="en-US" sz="2400" dirty="0"/>
          </a:p>
        </p:txBody>
      </p:sp>
      <p:sp>
        <p:nvSpPr>
          <p:cNvPr id="44" name="Shape 39"/>
          <p:cNvSpPr/>
          <p:nvPr/>
        </p:nvSpPr>
        <p:spPr>
          <a:xfrm>
            <a:off x="960120" y="22448520"/>
            <a:ext cx="28355544" cy="841248"/>
          </a:xfrm>
          <a:prstGeom prst="rect">
            <a:avLst/>
          </a:prstGeom>
          <a:solidFill>
            <a:srgbClr val="ECECEC"/>
          </a:solidFill>
          <a:ln>
            <a:noFill/>
          </a:ln>
        </p:spPr>
      </p:sp>
      <p:sp>
        <p:nvSpPr>
          <p:cNvPr id="45" name="Text 40"/>
          <p:cNvSpPr/>
          <p:nvPr/>
        </p:nvSpPr>
        <p:spPr>
          <a:xfrm>
            <a:off x="1234440" y="22448520"/>
            <a:ext cx="27806904" cy="841248"/>
          </a:xfrm>
          <a:prstGeom prst="rect">
            <a:avLst/>
          </a:prstGeom>
          <a:noFill/>
          <a:ln/>
        </p:spPr>
        <p:txBody>
          <a:bodyPr wrap="square" lIns="0" tIns="0" rIns="0" bIns="0" rtlCol="0" anchor="ctr"/>
          <a:lstStyle/>
          <a:p>
            <a:pPr indent="0" marL="0">
              <a:buNone/>
            </a:pPr>
            <a:r>
              <a:rPr lang="en-US" sz="3400" b="1" dirty="0">
                <a:solidFill>
                  <a:srgbClr val="000000"/>
                </a:solidFill>
                <a:latin typeface="Georgia" pitchFamily="34" charset="0"/>
                <a:ea typeface="Georgia" pitchFamily="34" charset="-122"/>
                <a:cs typeface="Georgia" pitchFamily="34" charset="-120"/>
              </a:rPr>
              <a:t>Results</a:t>
            </a:r>
            <a:endParaRPr lang="en-US" sz="3400" dirty="0"/>
          </a:p>
        </p:txBody>
      </p:sp>
      <p:sp>
        <p:nvSpPr>
          <p:cNvPr id="46" name="Shape 41"/>
          <p:cNvSpPr/>
          <p:nvPr/>
        </p:nvSpPr>
        <p:spPr>
          <a:xfrm>
            <a:off x="960120" y="23289768"/>
            <a:ext cx="28355544" cy="32004"/>
          </a:xfrm>
          <a:prstGeom prst="rect">
            <a:avLst/>
          </a:prstGeom>
          <a:solidFill>
            <a:srgbClr val="000000"/>
          </a:solidFill>
          <a:ln>
            <a:noFill/>
          </a:ln>
        </p:spPr>
      </p:sp>
      <p:sp>
        <p:nvSpPr>
          <p:cNvPr id="47" name="Text 42"/>
          <p:cNvSpPr/>
          <p:nvPr/>
        </p:nvSpPr>
        <p:spPr>
          <a:xfrm>
            <a:off x="960120" y="23564088"/>
            <a:ext cx="9509760" cy="109728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Definition-only retrieval helps on average,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and the gain is confined to a mid-capability band on </a:t>
            </a:r>
            <a:pPr indent="0" marL="0">
              <a:lnSpc>
                <a:spcPct val="118000"/>
              </a:lnSpc>
              <a:spcAft>
                <a:spcPts val="900"/>
              </a:spcAft>
              <a:buNone/>
            </a:pPr>
            <a:r>
              <a:rPr lang="en-US" sz="2400" b="1" dirty="0">
                <a:solidFill>
                  <a:srgbClr val="1A1A1A"/>
                </a:solidFill>
                <a:latin typeface="Calibri" pitchFamily="34" charset="0"/>
                <a:ea typeface="Calibri" pitchFamily="34" charset="-122"/>
                <a:cs typeface="Calibri" pitchFamily="34" charset="-120"/>
              </a:rPr>
              <a:t>both</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 benchmarks.</a:t>
            </a:r>
            <a:endParaRPr lang="en-US" sz="24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960120" y="24862536"/>
          <a:ext cx="9509760" cy="914400"/>
        </p:xfrm>
        <a:graphic>
          <a:graphicData uri="http://schemas.openxmlformats.org/drawingml/2006/table">
            <a:tbl>
              <a:tblPr/>
              <a:tblGrid>
                <a:gridCol w="3566160"/>
                <a:gridCol w="2011680"/>
                <a:gridCol w="2011680"/>
                <a:gridCol w="1920240"/>
              </a:tblGrid>
              <a:tr h="393192">
                <a:tc>
                  <a:txBody>
                    <a:bodyPr/>
                    <a:lstStyle/>
                    <a:p>
                      <a:pPr algn="l" indent="0" marL="0">
                        <a:buNone/>
                      </a:pPr>
                      <a:r>
                        <a:rPr lang="en-US" sz="2300" b="1" dirty="0">
                          <a:solidFill>
                            <a:srgbClr val="1A1A1A"/>
                          </a:solidFill>
                          <a:latin typeface="Calibri" pitchFamily="34" charset="0"/>
                          <a:ea typeface="Calibri" pitchFamily="34" charset="-122"/>
                          <a:cs typeface="Calibri" pitchFamily="34" charset="-120"/>
                        </a:rPr>
                        <a:t>Model</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A1A1A"/>
                          </a:solidFill>
                          <a:latin typeface="Calibri" pitchFamily="34" charset="0"/>
                          <a:ea typeface="Calibri" pitchFamily="34" charset="-122"/>
                          <a:cs typeface="Calibri" pitchFamily="34" charset="-120"/>
                        </a:rPr>
                        <a:t>Base</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A1A1A"/>
                          </a:solidFill>
                          <a:latin typeface="Calibri" pitchFamily="34" charset="0"/>
                          <a:ea typeface="Calibri" pitchFamily="34" charset="-122"/>
                          <a:cs typeface="Calibri" pitchFamily="34" charset="-120"/>
                        </a:rPr>
                        <a:t>+RAG</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A1A1A"/>
                          </a:solidFill>
                          <a:latin typeface="Calibri" pitchFamily="34" charset="0"/>
                          <a:ea typeface="Calibri" pitchFamily="34" charset="-122"/>
                          <a:cs typeface="Calibri" pitchFamily="34" charset="-120"/>
                        </a:rPr>
                        <a:t>Δ</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gridSpan="4">
                  <a:txBody>
                    <a:bodyPr/>
                    <a:lstStyle/>
                    <a:p>
                      <a:pPr algn="l" indent="0" marL="0">
                        <a:buNone/>
                      </a:pPr>
                      <a:r>
                        <a:rPr lang="en-US" sz="2300" i="1" dirty="0">
                          <a:solidFill>
                            <a:srgbClr val="000000"/>
                          </a:solidFill>
                          <a:latin typeface="Calibri" pitchFamily="34" charset="0"/>
                          <a:ea typeface="Calibri" pitchFamily="34" charset="-122"/>
                          <a:cs typeface="Calibri" pitchFamily="34" charset="-120"/>
                        </a:rPr>
                        <a:t>MMLU Finance  (n = 1,124)</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hMerge="1">
                  <a:tcPr/>
                </a:tc>
                <a:tc hMerge="1">
                  <a:tcPr/>
                </a:tc>
                <a:tc hMerge="1">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Qwen-2.5-7B</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60.8</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64.1</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77E74"/>
                          </a:solidFill>
                          <a:latin typeface="Calibri" pitchFamily="34" charset="0"/>
                          <a:ea typeface="Calibri" pitchFamily="34" charset="-122"/>
                          <a:cs typeface="Calibri" pitchFamily="34" charset="-120"/>
                        </a:rPr>
                        <a:t>+3.3</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Qwen-2.5-14B</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68.2</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68.1</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−0.1</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Llama-3.1-8B</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52.1</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57.6</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77E74"/>
                          </a:solidFill>
                          <a:latin typeface="Calibri" pitchFamily="34" charset="0"/>
                          <a:ea typeface="Calibri" pitchFamily="34" charset="-122"/>
                          <a:cs typeface="Calibri" pitchFamily="34" charset="-120"/>
                        </a:rPr>
                        <a:t>+5.4</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Mistral-S-24B</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72.3</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72.5</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+0.2</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GPT-5.2</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87.8</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88.1</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+0.3</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gridSpan="4">
                  <a:txBody>
                    <a:bodyPr/>
                    <a:lstStyle/>
                    <a:p>
                      <a:pPr algn="l" indent="0" marL="0">
                        <a:buNone/>
                      </a:pPr>
                      <a:r>
                        <a:rPr lang="en-US" sz="2300" i="1" dirty="0">
                          <a:solidFill>
                            <a:srgbClr val="000000"/>
                          </a:solidFill>
                          <a:latin typeface="Calibri" pitchFamily="34" charset="0"/>
                          <a:ea typeface="Calibri" pitchFamily="34" charset="-122"/>
                          <a:cs typeface="Calibri" pitchFamily="34" charset="-120"/>
                        </a:rPr>
                        <a:t>XFinBench TU  (n = 1,790)</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hMerge="1">
                  <a:tcPr/>
                </a:tc>
                <a:tc hMerge="1">
                  <a:tcPr/>
                </a:tc>
                <a:tc hMerge="1">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Qwen-2.5-7B</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70.5</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75.3</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77E74"/>
                          </a:solidFill>
                          <a:latin typeface="Calibri" pitchFamily="34" charset="0"/>
                          <a:ea typeface="Calibri" pitchFamily="34" charset="-122"/>
                          <a:cs typeface="Calibri" pitchFamily="34" charset="-120"/>
                        </a:rPr>
                        <a:t>+4.8</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Qwen-2.5-14B</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77.7</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76.8</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−0.8</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Llama-3.1-8B</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61.5</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63.5</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b="1" dirty="0">
                          <a:solidFill>
                            <a:srgbClr val="177E74"/>
                          </a:solidFill>
                          <a:latin typeface="Calibri" pitchFamily="34" charset="0"/>
                          <a:ea typeface="Calibri" pitchFamily="34" charset="-122"/>
                          <a:cs typeface="Calibri" pitchFamily="34" charset="-120"/>
                        </a:rPr>
                        <a:t>+2.0</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Mistral-S-24B</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78.9</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78.9</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±0.0</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algn="l" indent="0" marL="0">
                        <a:buNone/>
                      </a:pPr>
                      <a:r>
                        <a:rPr lang="en-US" sz="2300" dirty="0">
                          <a:solidFill>
                            <a:srgbClr val="1A1A1A"/>
                          </a:solidFill>
                          <a:latin typeface="Calibri" pitchFamily="34" charset="0"/>
                          <a:ea typeface="Calibri" pitchFamily="34" charset="-122"/>
                          <a:cs typeface="Calibri" pitchFamily="34" charset="-120"/>
                        </a:rPr>
                        <a:t>GPT-5.2</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87.6</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88.5</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300" dirty="0">
                          <a:solidFill>
                            <a:srgbClr val="1A1A1A"/>
                          </a:solidFill>
                          <a:latin typeface="Calibri" pitchFamily="34" charset="0"/>
                          <a:ea typeface="Calibri" pitchFamily="34" charset="-122"/>
                          <a:cs typeface="Calibri" pitchFamily="34" charset="-120"/>
                        </a:rPr>
                        <a:t>+0.9</a:t>
                      </a:r>
                      <a:endParaRPr lang="en-US" sz="23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49" name="Shape 43"/>
          <p:cNvSpPr/>
          <p:nvPr/>
        </p:nvSpPr>
        <p:spPr>
          <a:xfrm>
            <a:off x="960120" y="24844248"/>
            <a:ext cx="9509760" cy="32004"/>
          </a:xfrm>
          <a:prstGeom prst="rect">
            <a:avLst/>
          </a:prstGeom>
          <a:solidFill>
            <a:srgbClr val="000000"/>
          </a:solidFill>
          <a:ln>
            <a:noFill/>
          </a:ln>
        </p:spPr>
      </p:sp>
      <p:sp>
        <p:nvSpPr>
          <p:cNvPr id="50" name="Shape 44"/>
          <p:cNvSpPr/>
          <p:nvPr/>
        </p:nvSpPr>
        <p:spPr>
          <a:xfrm>
            <a:off x="960120" y="25242012"/>
            <a:ext cx="9509760" cy="18288"/>
          </a:xfrm>
          <a:prstGeom prst="rect">
            <a:avLst/>
          </a:prstGeom>
          <a:solidFill>
            <a:srgbClr val="4A4A4A"/>
          </a:solidFill>
          <a:ln>
            <a:noFill/>
          </a:ln>
        </p:spPr>
      </p:sp>
      <p:sp>
        <p:nvSpPr>
          <p:cNvPr id="51" name="Shape 45"/>
          <p:cNvSpPr/>
          <p:nvPr/>
        </p:nvSpPr>
        <p:spPr>
          <a:xfrm>
            <a:off x="960120" y="29974032"/>
            <a:ext cx="9509760" cy="32004"/>
          </a:xfrm>
          <a:prstGeom prst="rect">
            <a:avLst/>
          </a:prstGeom>
          <a:solidFill>
            <a:srgbClr val="000000"/>
          </a:solidFill>
          <a:ln>
            <a:noFill/>
          </a:ln>
        </p:spPr>
      </p:sp>
      <p:sp>
        <p:nvSpPr>
          <p:cNvPr id="52" name="Text 46"/>
          <p:cNvSpPr/>
          <p:nvPr/>
        </p:nvSpPr>
        <p:spPr>
          <a:xfrm>
            <a:off x="960120" y="30156912"/>
            <a:ext cx="9509760" cy="685800"/>
          </a:xfrm>
          <a:prstGeom prst="rect">
            <a:avLst/>
          </a:prstGeom>
          <a:noFill/>
          <a:ln/>
        </p:spPr>
        <p:txBody>
          <a:bodyPr wrap="square" lIns="0" tIns="0" rIns="0" bIns="0" rtlCol="0" anchor="ctr">
            <a:normAutofit/>
          </a:bodyPr>
          <a:lstStyle/>
          <a:p>
            <a:pPr indent="0" marL="0">
              <a:lnSpc>
                <a:spcPct val="112000"/>
              </a:lnSpc>
              <a:buNone/>
            </a:pPr>
            <a:r>
              <a:rPr lang="en-US" sz="2000" b="1" dirty="0">
                <a:solidFill>
                  <a:srgbClr val="4A4A4A"/>
                </a:solidFill>
                <a:latin typeface="Calibri" pitchFamily="34" charset="0"/>
                <a:ea typeface="Calibri" pitchFamily="34" charset="-122"/>
                <a:cs typeface="Calibri" pitchFamily="34" charset="-120"/>
              </a:rPr>
              <a:t>Table 2. </a:t>
            </a:r>
            <a:pPr indent="0" marL="0">
              <a:lnSpc>
                <a:spcPct val="112000"/>
              </a:lnSpc>
              <a:buNone/>
            </a:pPr>
            <a:r>
              <a:rPr lang="en-US" sz="2000" dirty="0">
                <a:solidFill>
                  <a:srgbClr val="4A4A4A"/>
                </a:solidFill>
                <a:latin typeface="Calibri" pitchFamily="34" charset="0"/>
                <a:ea typeface="Calibri" pitchFamily="34" charset="-122"/>
                <a:cs typeface="Calibri" pitchFamily="34" charset="-120"/>
              </a:rPr>
              <a:t>Accuracy with and without definition-only RAG. Coloured Δ: 95% CI excludes zero (paired bootstrap, 2,000 resamples).</a:t>
            </a:r>
            <a:endParaRPr lang="en-US" sz="2000" dirty="0"/>
          </a:p>
        </p:txBody>
      </p:sp>
      <p:sp>
        <p:nvSpPr>
          <p:cNvPr id="53" name="Text 47"/>
          <p:cNvSpPr/>
          <p:nvPr/>
        </p:nvSpPr>
        <p:spPr>
          <a:xfrm>
            <a:off x="11155680" y="23564088"/>
            <a:ext cx="9509760" cy="109728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The split follows neither size nor family.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No stalling model gains even in its own weakest term-knowledge quartile.</a:t>
            </a:r>
            <a:endParaRPr lang="en-US" sz="2400" dirty="0"/>
          </a:p>
        </p:txBody>
      </p:sp>
      <p:pic>
        <p:nvPicPr>
          <p:cNvPr id="54" name="Image 2" descr="/Users/ouyang/2026/emnlp2026/poster_pptx/figures/fig51_net_decomp.png">    </p:cNvPr>
          <p:cNvPicPr>
            <a:picLocks noChangeAspect="1"/>
          </p:cNvPicPr>
          <p:nvPr/>
        </p:nvPicPr>
        <p:blipFill>
          <a:blip r:embed="rId3"/>
          <a:stretch>
            <a:fillRect/>
          </a:stretch>
        </p:blipFill>
        <p:spPr>
          <a:xfrm>
            <a:off x="12893040" y="24953976"/>
            <a:ext cx="6035040" cy="5000033"/>
          </a:xfrm>
          <a:prstGeom prst="rect">
            <a:avLst/>
          </a:prstGeom>
        </p:spPr>
      </p:pic>
      <p:sp>
        <p:nvSpPr>
          <p:cNvPr id="55" name="Text 48"/>
          <p:cNvSpPr/>
          <p:nvPr/>
        </p:nvSpPr>
        <p:spPr>
          <a:xfrm>
            <a:off x="11155680" y="30091169"/>
            <a:ext cx="9509760" cy="685800"/>
          </a:xfrm>
          <a:prstGeom prst="rect">
            <a:avLst/>
          </a:prstGeom>
          <a:noFill/>
          <a:ln/>
        </p:spPr>
        <p:txBody>
          <a:bodyPr wrap="square" lIns="0" tIns="0" rIns="0" bIns="0" rtlCol="0" anchor="ctr">
            <a:normAutofit/>
          </a:bodyPr>
          <a:lstStyle/>
          <a:p>
            <a:pPr indent="0" marL="0">
              <a:lnSpc>
                <a:spcPct val="112000"/>
              </a:lnSpc>
              <a:buNone/>
            </a:pPr>
            <a:r>
              <a:rPr lang="en-US" sz="2000" b="1" dirty="0">
                <a:solidFill>
                  <a:srgbClr val="4A4A4A"/>
                </a:solidFill>
                <a:latin typeface="Calibri" pitchFamily="34" charset="0"/>
                <a:ea typeface="Calibri" pitchFamily="34" charset="-122"/>
                <a:cs typeface="Calibri" pitchFamily="34" charset="-120"/>
              </a:rPr>
              <a:t>Figure 1. </a:t>
            </a:r>
            <a:pPr indent="0" marL="0">
              <a:lnSpc>
                <a:spcPct val="112000"/>
              </a:lnSpc>
              <a:buNone/>
            </a:pPr>
            <a:r>
              <a:rPr lang="en-US" sz="2000" dirty="0">
                <a:solidFill>
                  <a:srgbClr val="4A4A4A"/>
                </a:solidFill>
                <a:latin typeface="Calibri" pitchFamily="34" charset="0"/>
                <a:ea typeface="Calibri" pitchFamily="34" charset="-122"/>
                <a:cs typeface="Calibri" pitchFamily="34" charset="-120"/>
              </a:rPr>
              <a:t>Per-model paired-removal decomposition on both benchmarks.</a:t>
            </a:r>
            <a:endParaRPr lang="en-US" sz="2000" dirty="0"/>
          </a:p>
        </p:txBody>
      </p:sp>
      <p:sp>
        <p:nvSpPr>
          <p:cNvPr id="56" name="Text 49"/>
          <p:cNvSpPr/>
          <p:nvPr/>
        </p:nvSpPr>
        <p:spPr>
          <a:xfrm>
            <a:off x="21351240" y="23564088"/>
            <a:ext cx="7964424" cy="146304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The gain is the definition, not leakage.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Only 20 of 3,228 injected snippets contain a full answer string, and removing them changes nothing.</a:t>
            </a:r>
            <a:endParaRPr lang="en-US" sz="2400" dirty="0"/>
          </a:p>
        </p:txBody>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21351240" y="25228296"/>
          <a:ext cx="7964424" cy="914400"/>
        </p:xfrm>
        <a:graphic>
          <a:graphicData uri="http://schemas.openxmlformats.org/drawingml/2006/table">
            <a:tbl>
              <a:tblPr/>
              <a:tblGrid>
                <a:gridCol w="4260041"/>
                <a:gridCol w="1852192"/>
                <a:gridCol w="1852192"/>
              </a:tblGrid>
              <a:tr h="420624">
                <a:tc>
                  <a:txBody>
                    <a:bodyPr/>
                    <a:lstStyle/>
                    <a:p>
                      <a:pPr algn="l" indent="0" marL="0">
                        <a:buNone/>
                      </a:pPr>
                      <a:r>
                        <a:rPr lang="en-US" sz="2200" b="1" dirty="0">
                          <a:solidFill>
                            <a:srgbClr val="1A1A1A"/>
                          </a:solidFill>
                          <a:latin typeface="Calibri" pitchFamily="34" charset="0"/>
                          <a:ea typeface="Calibri" pitchFamily="34" charset="-122"/>
                          <a:cs typeface="Calibri" pitchFamily="34" charset="-120"/>
                        </a:rPr>
                        <a:t>Condition</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b="1" dirty="0">
                          <a:solidFill>
                            <a:srgbClr val="1A1A1A"/>
                          </a:solidFill>
                          <a:latin typeface="Calibri" pitchFamily="34" charset="0"/>
                          <a:ea typeface="Calibri" pitchFamily="34" charset="-122"/>
                          <a:cs typeface="Calibri" pitchFamily="34" charset="-120"/>
                        </a:rPr>
                        <a:t>Acc.</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b="1" dirty="0">
                          <a:solidFill>
                            <a:srgbClr val="1A1A1A"/>
                          </a:solidFill>
                          <a:latin typeface="Calibri" pitchFamily="34" charset="0"/>
                          <a:ea typeface="Calibri" pitchFamily="34" charset="-122"/>
                          <a:cs typeface="Calibri" pitchFamily="34" charset="-120"/>
                        </a:rPr>
                        <a:t>vs RAG</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No RAG (baseline)</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60.8</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−2.9</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RAG (as reported)</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63.7</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  drop answer-matching</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63.7</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±0.0</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  mask all term names</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61.9</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−1.8</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20624">
                <a:tc gridSpan="3">
                  <a:txBody>
                    <a:bodyPr/>
                    <a:lstStyle/>
                    <a:p>
                      <a:pPr algn="l" indent="0" marL="0">
                        <a:buNone/>
                      </a:pPr>
                      <a:r>
                        <a:rPr lang="en-US" sz="2200" i="1" dirty="0">
                          <a:solidFill>
                            <a:srgbClr val="000000"/>
                          </a:solidFill>
                          <a:latin typeface="Calibri" pitchFamily="34" charset="0"/>
                          <a:ea typeface="Calibri" pitchFamily="34" charset="-122"/>
                          <a:cs typeface="Calibri" pitchFamily="34" charset="-120"/>
                        </a:rPr>
                        <a:t>Invented terms  (n = 50, unmemorisable)</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hMerge="1">
                  <a:tcPr/>
                </a:tc>
                <a:tc hMerge="1">
                  <a:tcPr/>
                </a:tc>
              </a:tr>
              <a:tr h="420624">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GPT-5.2</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36.0 →</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100.0</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Qwen-2.5-7B</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30.0 →</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2200" dirty="0">
                          <a:solidFill>
                            <a:srgbClr val="1A1A1A"/>
                          </a:solidFill>
                          <a:latin typeface="Calibri" pitchFamily="34" charset="0"/>
                          <a:ea typeface="Calibri" pitchFamily="34" charset="-122"/>
                          <a:cs typeface="Calibri" pitchFamily="34" charset="-120"/>
                        </a:rPr>
                        <a:t>100.0</a:t>
                      </a:r>
                      <a:endParaRPr lang="en-US" sz="2200" dirty="0">
                        <a:latin typeface="Calibri" charset="0"/>
                        <a:ea typeface="Calibri" charset="0"/>
                        <a:cs typeface="Calibri"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8" name="Shape 50"/>
          <p:cNvSpPr/>
          <p:nvPr/>
        </p:nvSpPr>
        <p:spPr>
          <a:xfrm>
            <a:off x="21351240" y="25210008"/>
            <a:ext cx="7964424" cy="32004"/>
          </a:xfrm>
          <a:prstGeom prst="rect">
            <a:avLst/>
          </a:prstGeom>
          <a:solidFill>
            <a:srgbClr val="000000"/>
          </a:solidFill>
          <a:ln>
            <a:noFill/>
          </a:ln>
        </p:spPr>
      </p:sp>
      <p:sp>
        <p:nvSpPr>
          <p:cNvPr id="59" name="Shape 51"/>
          <p:cNvSpPr/>
          <p:nvPr/>
        </p:nvSpPr>
        <p:spPr>
          <a:xfrm>
            <a:off x="21351240" y="25635204"/>
            <a:ext cx="7964424" cy="18288"/>
          </a:xfrm>
          <a:prstGeom prst="rect">
            <a:avLst/>
          </a:prstGeom>
          <a:solidFill>
            <a:srgbClr val="4A4A4A"/>
          </a:solidFill>
          <a:ln>
            <a:noFill/>
          </a:ln>
        </p:spPr>
      </p:sp>
      <p:sp>
        <p:nvSpPr>
          <p:cNvPr id="60" name="Shape 52"/>
          <p:cNvSpPr/>
          <p:nvPr/>
        </p:nvSpPr>
        <p:spPr>
          <a:xfrm>
            <a:off x="21351240" y="28593288"/>
            <a:ext cx="7964424" cy="32004"/>
          </a:xfrm>
          <a:prstGeom prst="rect">
            <a:avLst/>
          </a:prstGeom>
          <a:solidFill>
            <a:srgbClr val="000000"/>
          </a:solidFill>
          <a:ln>
            <a:noFill/>
          </a:ln>
        </p:spPr>
      </p:sp>
      <p:sp>
        <p:nvSpPr>
          <p:cNvPr id="61" name="Text 53"/>
          <p:cNvSpPr/>
          <p:nvPr/>
        </p:nvSpPr>
        <p:spPr>
          <a:xfrm>
            <a:off x="21351240" y="28776168"/>
            <a:ext cx="7964424" cy="685800"/>
          </a:xfrm>
          <a:prstGeom prst="rect">
            <a:avLst/>
          </a:prstGeom>
          <a:noFill/>
          <a:ln/>
        </p:spPr>
        <p:txBody>
          <a:bodyPr wrap="square" lIns="0" tIns="0" rIns="0" bIns="0" rtlCol="0" anchor="ctr">
            <a:normAutofit/>
          </a:bodyPr>
          <a:lstStyle/>
          <a:p>
            <a:pPr indent="0" marL="0">
              <a:lnSpc>
                <a:spcPct val="112000"/>
              </a:lnSpc>
              <a:buNone/>
            </a:pPr>
            <a:r>
              <a:rPr lang="en-US" sz="2000" b="1" dirty="0">
                <a:solidFill>
                  <a:srgbClr val="4A4A4A"/>
                </a:solidFill>
                <a:latin typeface="Calibri" pitchFamily="34" charset="0"/>
                <a:ea typeface="Calibri" pitchFamily="34" charset="-122"/>
                <a:cs typeface="Calibri" pitchFamily="34" charset="-120"/>
              </a:rPr>
              <a:t>Table 3. </a:t>
            </a:r>
            <a:pPr indent="0" marL="0">
              <a:lnSpc>
                <a:spcPct val="112000"/>
              </a:lnSpc>
              <a:buNone/>
            </a:pPr>
            <a:r>
              <a:rPr lang="en-US" sz="2000" dirty="0">
                <a:solidFill>
                  <a:srgbClr val="4A4A4A"/>
                </a:solidFill>
                <a:latin typeface="Calibri" pitchFamily="34" charset="0"/>
                <a:ea typeface="Calibri" pitchFamily="34" charset="-122"/>
                <a:cs typeface="Calibri" pitchFamily="34" charset="-120"/>
              </a:rPr>
              <a:t>Controls on the source of the gain.</a:t>
            </a:r>
            <a:endParaRPr lang="en-US" sz="2000" dirty="0"/>
          </a:p>
        </p:txBody>
      </p:sp>
      <p:sp>
        <p:nvSpPr>
          <p:cNvPr id="62" name="Text 54"/>
          <p:cNvSpPr/>
          <p:nvPr/>
        </p:nvSpPr>
        <p:spPr>
          <a:xfrm>
            <a:off x="21351240" y="29553408"/>
            <a:ext cx="7964424" cy="128016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A positive control.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On unmemorisable terms the frontier model uses a definition as completely as the mid-capability one, so its flat Δ is not an inability to read one.</a:t>
            </a:r>
            <a:endParaRPr lang="en-US" sz="2400" dirty="0"/>
          </a:p>
        </p:txBody>
      </p:sp>
      <p:sp>
        <p:nvSpPr>
          <p:cNvPr id="63" name="Shape 55"/>
          <p:cNvSpPr/>
          <p:nvPr/>
        </p:nvSpPr>
        <p:spPr>
          <a:xfrm>
            <a:off x="960120" y="31318200"/>
            <a:ext cx="28355544" cy="841248"/>
          </a:xfrm>
          <a:prstGeom prst="rect">
            <a:avLst/>
          </a:prstGeom>
          <a:solidFill>
            <a:srgbClr val="ECECEC"/>
          </a:solidFill>
          <a:ln>
            <a:noFill/>
          </a:ln>
        </p:spPr>
      </p:sp>
      <p:sp>
        <p:nvSpPr>
          <p:cNvPr id="64" name="Text 56"/>
          <p:cNvSpPr/>
          <p:nvPr/>
        </p:nvSpPr>
        <p:spPr>
          <a:xfrm>
            <a:off x="1234440" y="31318200"/>
            <a:ext cx="27806904" cy="841248"/>
          </a:xfrm>
          <a:prstGeom prst="rect">
            <a:avLst/>
          </a:prstGeom>
          <a:noFill/>
          <a:ln/>
        </p:spPr>
        <p:txBody>
          <a:bodyPr wrap="square" lIns="0" tIns="0" rIns="0" bIns="0" rtlCol="0" anchor="ctr"/>
          <a:lstStyle/>
          <a:p>
            <a:pPr indent="0" marL="0">
              <a:buNone/>
            </a:pPr>
            <a:r>
              <a:rPr lang="en-US" sz="3400" b="1" dirty="0">
                <a:solidFill>
                  <a:srgbClr val="000000"/>
                </a:solidFill>
                <a:latin typeface="Georgia" pitchFamily="34" charset="0"/>
                <a:ea typeface="Georgia" pitchFamily="34" charset="-122"/>
                <a:cs typeface="Georgia" pitchFamily="34" charset="-120"/>
              </a:rPr>
              <a:t>Analysis</a:t>
            </a:r>
            <a:endParaRPr lang="en-US" sz="3400" dirty="0"/>
          </a:p>
        </p:txBody>
      </p:sp>
      <p:sp>
        <p:nvSpPr>
          <p:cNvPr id="65" name="Shape 57"/>
          <p:cNvSpPr/>
          <p:nvPr/>
        </p:nvSpPr>
        <p:spPr>
          <a:xfrm>
            <a:off x="960120" y="32159448"/>
            <a:ext cx="28355544" cy="32004"/>
          </a:xfrm>
          <a:prstGeom prst="rect">
            <a:avLst/>
          </a:prstGeom>
          <a:solidFill>
            <a:srgbClr val="000000"/>
          </a:solidFill>
          <a:ln>
            <a:noFill/>
          </a:ln>
        </p:spPr>
      </p:sp>
      <p:sp>
        <p:nvSpPr>
          <p:cNvPr id="66" name="Text 58"/>
          <p:cNvSpPr/>
          <p:nvPr/>
        </p:nvSpPr>
        <p:spPr>
          <a:xfrm>
            <a:off x="960120" y="32433768"/>
            <a:ext cx="6858000" cy="109728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A net of zero hides two-sided movement.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Qwen-2.5-14B sits at Δ ≈ 0 while retrieval still changes 147 of 1,124 answers.</a:t>
            </a:r>
            <a:endParaRPr lang="en-US" sz="2400" dirty="0"/>
          </a:p>
        </p:txBody>
      </p:sp>
      <p:pic>
        <p:nvPicPr>
          <p:cNvPr id="67" name="Image 3" descr="/Users/ouyang/2026/emnlp2026/poster_pptx/figures/fig53_actual_vs_oracle.png">    </p:cNvPr>
          <p:cNvPicPr>
            <a:picLocks noChangeAspect="1"/>
          </p:cNvPicPr>
          <p:nvPr/>
        </p:nvPicPr>
        <p:blipFill>
          <a:blip r:embed="rId4"/>
          <a:stretch>
            <a:fillRect/>
          </a:stretch>
        </p:blipFill>
        <p:spPr>
          <a:xfrm>
            <a:off x="960120" y="33732216"/>
            <a:ext cx="6858000" cy="3927835"/>
          </a:xfrm>
          <a:prstGeom prst="rect">
            <a:avLst/>
          </a:prstGeom>
        </p:spPr>
      </p:pic>
      <p:sp>
        <p:nvSpPr>
          <p:cNvPr id="68" name="Text 59"/>
          <p:cNvSpPr/>
          <p:nvPr/>
        </p:nvSpPr>
        <p:spPr>
          <a:xfrm>
            <a:off x="960120" y="37797211"/>
            <a:ext cx="6858000" cy="685800"/>
          </a:xfrm>
          <a:prstGeom prst="rect">
            <a:avLst/>
          </a:prstGeom>
          <a:noFill/>
          <a:ln/>
        </p:spPr>
        <p:txBody>
          <a:bodyPr wrap="square" lIns="0" tIns="0" rIns="0" bIns="0" rtlCol="0" anchor="ctr">
            <a:normAutofit/>
          </a:bodyPr>
          <a:lstStyle/>
          <a:p>
            <a:pPr indent="0" marL="0">
              <a:lnSpc>
                <a:spcPct val="112000"/>
              </a:lnSpc>
              <a:buNone/>
            </a:pPr>
            <a:r>
              <a:rPr lang="en-US" sz="2000" b="1" dirty="0">
                <a:solidFill>
                  <a:srgbClr val="4A4A4A"/>
                </a:solidFill>
                <a:latin typeface="Calibri" pitchFamily="34" charset="0"/>
                <a:ea typeface="Calibri" pitchFamily="34" charset="-122"/>
                <a:cs typeface="Calibri" pitchFamily="34" charset="-120"/>
              </a:rPr>
              <a:t>Figure 2. </a:t>
            </a:r>
            <a:pPr indent="0" marL="0">
              <a:lnSpc>
                <a:spcPct val="112000"/>
              </a:lnSpc>
              <a:buNone/>
            </a:pPr>
            <a:r>
              <a:rPr lang="en-US" sz="2000" dirty="0">
                <a:solidFill>
                  <a:srgbClr val="4A4A4A"/>
                </a:solidFill>
                <a:latin typeface="Calibri" pitchFamily="34" charset="0"/>
                <a:ea typeface="Calibri" pitchFamily="34" charset="-122"/>
                <a:cs typeface="Calibri" pitchFamily="34" charset="-120"/>
              </a:rPr>
              <a:t>Actual Δ against the implementable-oracle upper bound.</a:t>
            </a:r>
            <a:endParaRPr lang="en-US" sz="2000" dirty="0"/>
          </a:p>
        </p:txBody>
      </p:sp>
      <p:sp>
        <p:nvSpPr>
          <p:cNvPr id="69" name="Text 60"/>
          <p:cNvSpPr/>
          <p:nvPr/>
        </p:nvSpPr>
        <p:spPr>
          <a:xfrm>
            <a:off x="8458200" y="32433768"/>
            <a:ext cx="6858000" cy="109728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Term knowledge does not predict per question.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All 40 cells lie inside |r| &lt; 0.06 (permutation p = 0.91).</a:t>
            </a:r>
            <a:endParaRPr lang="en-US" sz="2400" dirty="0"/>
          </a:p>
        </p:txBody>
      </p:sp>
      <p:pic>
        <p:nvPicPr>
          <p:cNvPr id="70" name="Image 4" descr="/Users/ouyang/2026/emnlp2026/poster_pptx/figures/fig57_correlation_forest.png">    </p:cNvPr>
          <p:cNvPicPr>
            <a:picLocks noChangeAspect="1"/>
          </p:cNvPicPr>
          <p:nvPr/>
        </p:nvPicPr>
        <p:blipFill>
          <a:blip r:embed="rId5"/>
          <a:stretch>
            <a:fillRect/>
          </a:stretch>
        </p:blipFill>
        <p:spPr>
          <a:xfrm>
            <a:off x="8458200" y="33732216"/>
            <a:ext cx="6858000" cy="3918857"/>
          </a:xfrm>
          <a:prstGeom prst="rect">
            <a:avLst/>
          </a:prstGeom>
        </p:spPr>
      </p:pic>
      <p:sp>
        <p:nvSpPr>
          <p:cNvPr id="71" name="Text 61"/>
          <p:cNvSpPr/>
          <p:nvPr/>
        </p:nvSpPr>
        <p:spPr>
          <a:xfrm>
            <a:off x="8458200" y="37788233"/>
            <a:ext cx="6858000" cy="685800"/>
          </a:xfrm>
          <a:prstGeom prst="rect">
            <a:avLst/>
          </a:prstGeom>
          <a:noFill/>
          <a:ln/>
        </p:spPr>
        <p:txBody>
          <a:bodyPr wrap="square" lIns="0" tIns="0" rIns="0" bIns="0" rtlCol="0" anchor="ctr">
            <a:normAutofit/>
          </a:bodyPr>
          <a:lstStyle/>
          <a:p>
            <a:pPr indent="0" marL="0">
              <a:lnSpc>
                <a:spcPct val="112000"/>
              </a:lnSpc>
              <a:buNone/>
            </a:pPr>
            <a:r>
              <a:rPr lang="en-US" sz="2000" b="1" dirty="0">
                <a:solidFill>
                  <a:srgbClr val="4A4A4A"/>
                </a:solidFill>
                <a:latin typeface="Calibri" pitchFamily="34" charset="0"/>
                <a:ea typeface="Calibri" pitchFamily="34" charset="-122"/>
                <a:cs typeface="Calibri" pitchFamily="34" charset="-120"/>
              </a:rPr>
              <a:t>Figure 3. </a:t>
            </a:r>
            <a:pPr indent="0" marL="0">
              <a:lnSpc>
                <a:spcPct val="112000"/>
              </a:lnSpc>
              <a:buNone/>
            </a:pPr>
            <a:r>
              <a:rPr lang="en-US" sz="2000" dirty="0">
                <a:solidFill>
                  <a:srgbClr val="4A4A4A"/>
                </a:solidFill>
                <a:latin typeface="Calibri" pitchFamily="34" charset="0"/>
                <a:ea typeface="Calibri" pitchFamily="34" charset="-122"/>
                <a:cs typeface="Calibri" pitchFamily="34" charset="-120"/>
              </a:rPr>
              <a:t>Per-question correlations as a forest plot.</a:t>
            </a:r>
            <a:endParaRPr lang="en-US" sz="2000" dirty="0"/>
          </a:p>
        </p:txBody>
      </p:sp>
      <p:sp>
        <p:nvSpPr>
          <p:cNvPr id="72" name="Text 62"/>
          <p:cNvSpPr/>
          <p:nvPr/>
        </p:nvSpPr>
        <p:spPr>
          <a:xfrm>
            <a:off x="15956280" y="32433768"/>
            <a:ext cx="7315200" cy="91440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No cheap internal signal approaches the oracle.  </a:t>
            </a:r>
            <a:endParaRPr lang="en-US" sz="2400" dirty="0"/>
          </a:p>
        </p:txBody>
      </p:sp>
      <p:pic>
        <p:nvPicPr>
          <p:cNvPr id="73" name="Image 5" descr="/Users/ouyang/2026/emnlp2026/poster_pptx/figures/new2_routing_ladder.png">    </p:cNvPr>
          <p:cNvPicPr>
            <a:picLocks noChangeAspect="1"/>
          </p:cNvPicPr>
          <p:nvPr/>
        </p:nvPicPr>
        <p:blipFill>
          <a:blip r:embed="rId6"/>
          <a:stretch>
            <a:fillRect/>
          </a:stretch>
        </p:blipFill>
        <p:spPr>
          <a:xfrm>
            <a:off x="15956280" y="33549336"/>
            <a:ext cx="7315200" cy="4624020"/>
          </a:xfrm>
          <a:prstGeom prst="rect">
            <a:avLst/>
          </a:prstGeom>
        </p:spPr>
      </p:pic>
      <p:sp>
        <p:nvSpPr>
          <p:cNvPr id="74" name="Text 63"/>
          <p:cNvSpPr/>
          <p:nvPr/>
        </p:nvSpPr>
        <p:spPr>
          <a:xfrm>
            <a:off x="15956280" y="38310516"/>
            <a:ext cx="7315200" cy="685800"/>
          </a:xfrm>
          <a:prstGeom prst="rect">
            <a:avLst/>
          </a:prstGeom>
          <a:noFill/>
          <a:ln/>
        </p:spPr>
        <p:txBody>
          <a:bodyPr wrap="square" lIns="0" tIns="0" rIns="0" bIns="0" rtlCol="0" anchor="ctr">
            <a:normAutofit/>
          </a:bodyPr>
          <a:lstStyle/>
          <a:p>
            <a:pPr indent="0" marL="0">
              <a:lnSpc>
                <a:spcPct val="112000"/>
              </a:lnSpc>
              <a:buNone/>
            </a:pPr>
            <a:r>
              <a:rPr lang="en-US" sz="2000" b="1" dirty="0">
                <a:solidFill>
                  <a:srgbClr val="4A4A4A"/>
                </a:solidFill>
                <a:latin typeface="Calibri" pitchFamily="34" charset="0"/>
                <a:ea typeface="Calibri" pitchFamily="34" charset="-122"/>
                <a:cs typeface="Calibri" pitchFamily="34" charset="-120"/>
              </a:rPr>
              <a:t>Figure 4. </a:t>
            </a:r>
            <a:pPr indent="0" marL="0">
              <a:lnSpc>
                <a:spcPct val="112000"/>
              </a:lnSpc>
              <a:buNone/>
            </a:pPr>
            <a:r>
              <a:rPr lang="en-US" sz="2000" dirty="0">
                <a:solidFill>
                  <a:srgbClr val="4A4A4A"/>
                </a:solidFill>
                <a:latin typeface="Calibri" pitchFamily="34" charset="0"/>
                <a:ea typeface="Calibri" pitchFamily="34" charset="-122"/>
                <a:cs typeface="Calibri" pitchFamily="34" charset="-120"/>
              </a:rPr>
              <a:t>Routing-signal accuracies against the oracle gap.</a:t>
            </a:r>
            <a:endParaRPr lang="en-US" sz="2000" dirty="0"/>
          </a:p>
        </p:txBody>
      </p:sp>
      <p:sp>
        <p:nvSpPr>
          <p:cNvPr id="75" name="Text 64"/>
          <p:cNvSpPr/>
          <p:nvPr/>
        </p:nvSpPr>
        <p:spPr>
          <a:xfrm>
            <a:off x="23911560" y="32433768"/>
            <a:ext cx="5404104" cy="5029200"/>
          </a:xfrm>
          <a:prstGeom prst="rect">
            <a:avLst/>
          </a:prstGeom>
          <a:noFill/>
          <a:ln/>
        </p:spPr>
        <p:txBody>
          <a:bodyPr wrap="square" lIns="0" tIns="0" rIns="0" bIns="0" rtlCol="0" anchor="t">
            <a:normAutofit/>
          </a:bodyPr>
          <a:lstStyle/>
          <a:p>
            <a:pPr indent="0" marL="0">
              <a:lnSpc>
                <a:spcPct val="118000"/>
              </a:lnSpc>
              <a:spcAft>
                <a:spcPts val="900"/>
              </a:spcAft>
              <a:buNone/>
            </a:pPr>
            <a:r>
              <a:rPr lang="en-US" sz="2400" b="1" dirty="0">
                <a:solidFill>
                  <a:srgbClr val="000000"/>
                </a:solidFill>
                <a:latin typeface="Calibri" pitchFamily="34" charset="0"/>
                <a:ea typeface="Calibri" pitchFamily="34" charset="-122"/>
                <a:cs typeface="Calibri" pitchFamily="34" charset="-120"/>
              </a:rPr>
              <a:t>What the three panels say.  </a:t>
            </a:r>
            <a:pPr indent="0" marL="0">
              <a:lnSpc>
                <a:spcPct val="118000"/>
              </a:lnSpc>
              <a:spcAft>
                <a:spcPts val="900"/>
              </a:spcAft>
              <a:buNone/>
            </a:pPr>
            <a:r>
              <a:rPr lang="en-US" sz="2400" dirty="0">
                <a:solidFill>
                  <a:srgbClr val="1A1A1A"/>
                </a:solidFill>
                <a:latin typeface="Calibri" pitchFamily="34" charset="0"/>
                <a:ea typeface="Calibri" pitchFamily="34" charset="-122"/>
                <a:cs typeface="Calibri" pitchFamily="34" charset="-120"/>
              </a:rPr>
              <a:t>Eight signals, each swept in its own favour; only the external judge beats always-on RAG (67.4 vs 64.1, oracle 70.0), and it is itself a second and stronger model. Filtering which definitions to inject fails too. The injected text perturbs the scores assigned to the four options, and whether that helps or hurts depends on question, option set and snippet together.</a:t>
            </a:r>
            <a:endParaRPr lang="en-US" sz="2400" dirty="0"/>
          </a:p>
        </p:txBody>
      </p:sp>
      <p:sp>
        <p:nvSpPr>
          <p:cNvPr id="76" name="Shape 65"/>
          <p:cNvSpPr/>
          <p:nvPr/>
        </p:nvSpPr>
        <p:spPr>
          <a:xfrm>
            <a:off x="960120" y="39364920"/>
            <a:ext cx="28355544" cy="32004"/>
          </a:xfrm>
          <a:prstGeom prst="rect">
            <a:avLst/>
          </a:prstGeom>
          <a:solidFill>
            <a:srgbClr val="000000"/>
          </a:solidFill>
          <a:ln>
            <a:noFill/>
          </a:ln>
        </p:spPr>
      </p:sp>
      <p:sp>
        <p:nvSpPr>
          <p:cNvPr id="77" name="Text 66"/>
          <p:cNvSpPr/>
          <p:nvPr/>
        </p:nvSpPr>
        <p:spPr>
          <a:xfrm>
            <a:off x="960120" y="39456360"/>
            <a:ext cx="28355544" cy="457200"/>
          </a:xfrm>
          <a:prstGeom prst="rect">
            <a:avLst/>
          </a:prstGeom>
          <a:noFill/>
          <a:ln/>
        </p:spPr>
        <p:txBody>
          <a:bodyPr wrap="square" lIns="0" tIns="0" rIns="0" bIns="0" rtlCol="0" anchor="ctr"/>
          <a:lstStyle/>
          <a:p>
            <a:pPr indent="0" marL="0">
              <a:buNone/>
            </a:pPr>
            <a:r>
              <a:rPr lang="en-US" sz="2600" b="1" dirty="0">
                <a:solidFill>
                  <a:srgbClr val="000000"/>
                </a:solidFill>
                <a:latin typeface="Georgia" pitchFamily="34" charset="0"/>
                <a:ea typeface="Georgia" pitchFamily="34" charset="-122"/>
                <a:cs typeface="Georgia" pitchFamily="34" charset="-120"/>
              </a:rPr>
              <a:t>References</a:t>
            </a:r>
            <a:endParaRPr lang="en-US" sz="2600" dirty="0"/>
          </a:p>
        </p:txBody>
      </p:sp>
      <p:sp>
        <p:nvSpPr>
          <p:cNvPr id="78" name="Text 67"/>
          <p:cNvSpPr/>
          <p:nvPr/>
        </p:nvSpPr>
        <p:spPr>
          <a:xfrm>
            <a:off x="960120" y="40023288"/>
            <a:ext cx="13766292" cy="365760"/>
          </a:xfrm>
          <a:prstGeom prst="rect">
            <a:avLst/>
          </a:prstGeom>
          <a:noFill/>
          <a:ln/>
        </p:spPr>
        <p:txBody>
          <a:bodyPr wrap="square" lIns="0" tIns="0" rIns="0" bIns="0" rtlCol="0" anchor="ctr">
            <a:normAutofit/>
          </a:bodyPr>
          <a:lstStyle/>
          <a:p>
            <a:pPr indent="0" marL="0">
              <a:buNone/>
            </a:pPr>
            <a:r>
              <a:rPr lang="en-US" sz="1500" dirty="0">
                <a:solidFill>
                  <a:srgbClr val="1A1A1A"/>
                </a:solidFill>
                <a:latin typeface="Calibri" pitchFamily="34" charset="0"/>
                <a:ea typeface="Calibri" pitchFamily="34" charset="-122"/>
                <a:cs typeface="Calibri" pitchFamily="34" charset="-120"/>
              </a:rPr>
              <a:t>Thanapon Noraset, Chen Liang, Larry Birnbaum, and Doug Downey. 2017. </a:t>
            </a:r>
            <a:pPr indent="0" marL="0">
              <a:buNone/>
            </a:pPr>
            <a:r>
              <a:rPr lang="en-US" sz="1500" dirty="0">
                <a:solidFill>
                  <a:srgbClr val="1A1A1A"/>
                </a:solidFill>
                <a:latin typeface="Calibri" pitchFamily="34" charset="0"/>
                <a:ea typeface="Calibri" pitchFamily="34" charset="-122"/>
                <a:cs typeface="Calibri" pitchFamily="34" charset="-120"/>
              </a:rPr>
              <a:t>Definition modeling: learning to define word embeddings in natural language. </a:t>
            </a:r>
            <a:pPr indent="0" marL="0">
              <a:buNone/>
            </a:pPr>
            <a:r>
              <a:rPr lang="en-US" sz="1500" i="1" dirty="0">
                <a:solidFill>
                  <a:srgbClr val="1A1A1A"/>
                </a:solidFill>
                <a:latin typeface="Calibri" pitchFamily="34" charset="0"/>
                <a:ea typeface="Calibri" pitchFamily="34" charset="-122"/>
                <a:cs typeface="Calibri" pitchFamily="34" charset="-120"/>
              </a:rPr>
              <a:t>AAAI.</a:t>
            </a:r>
            <a:endParaRPr lang="en-US" sz="1500" dirty="0"/>
          </a:p>
        </p:txBody>
      </p:sp>
      <p:sp>
        <p:nvSpPr>
          <p:cNvPr id="79" name="Text 68"/>
          <p:cNvSpPr/>
          <p:nvPr/>
        </p:nvSpPr>
        <p:spPr>
          <a:xfrm>
            <a:off x="960120" y="40389048"/>
            <a:ext cx="13766292" cy="365760"/>
          </a:xfrm>
          <a:prstGeom prst="rect">
            <a:avLst/>
          </a:prstGeom>
          <a:noFill/>
          <a:ln/>
        </p:spPr>
        <p:txBody>
          <a:bodyPr wrap="square" lIns="0" tIns="0" rIns="0" bIns="0" rtlCol="0" anchor="ctr">
            <a:normAutofit/>
          </a:bodyPr>
          <a:lstStyle/>
          <a:p>
            <a:pPr indent="0" marL="0">
              <a:buNone/>
            </a:pPr>
            <a:r>
              <a:rPr lang="en-US" sz="1500" dirty="0">
                <a:solidFill>
                  <a:srgbClr val="1A1A1A"/>
                </a:solidFill>
                <a:latin typeface="Calibri" pitchFamily="34" charset="0"/>
                <a:ea typeface="Calibri" pitchFamily="34" charset="-122"/>
                <a:cs typeface="Calibri" pitchFamily="34" charset="-120"/>
              </a:rPr>
              <a:t>James Jhirad, Edison Marrese-Taylor, and Yutaka Matsuo. 2023. </a:t>
            </a:r>
            <a:pPr indent="0" marL="0">
              <a:buNone/>
            </a:pPr>
            <a:r>
              <a:rPr lang="en-US" sz="1500" dirty="0">
                <a:solidFill>
                  <a:srgbClr val="1A1A1A"/>
                </a:solidFill>
                <a:latin typeface="Calibri" pitchFamily="34" charset="0"/>
                <a:ea typeface="Calibri" pitchFamily="34" charset="-122"/>
                <a:cs typeface="Calibri" pitchFamily="34" charset="-120"/>
              </a:rPr>
              <a:t>Evaluating large language models’ understanding of financial terminology. </a:t>
            </a:r>
            <a:pPr indent="0" marL="0">
              <a:buNone/>
            </a:pPr>
            <a:r>
              <a:rPr lang="en-US" sz="1500" i="1" dirty="0">
                <a:solidFill>
                  <a:srgbClr val="1A1A1A"/>
                </a:solidFill>
                <a:latin typeface="Calibri" pitchFamily="34" charset="0"/>
                <a:ea typeface="Calibri" pitchFamily="34" charset="-122"/>
                <a:cs typeface="Calibri" pitchFamily="34" charset="-120"/>
              </a:rPr>
              <a:t>IJCNLP-AACL.</a:t>
            </a:r>
            <a:endParaRPr lang="en-US" sz="1500" dirty="0"/>
          </a:p>
        </p:txBody>
      </p:sp>
      <p:sp>
        <p:nvSpPr>
          <p:cNvPr id="80" name="Text 69"/>
          <p:cNvSpPr/>
          <p:nvPr/>
        </p:nvSpPr>
        <p:spPr>
          <a:xfrm>
            <a:off x="960120" y="40754808"/>
            <a:ext cx="13766292" cy="365760"/>
          </a:xfrm>
          <a:prstGeom prst="rect">
            <a:avLst/>
          </a:prstGeom>
          <a:noFill/>
          <a:ln/>
        </p:spPr>
        <p:txBody>
          <a:bodyPr wrap="square" lIns="0" tIns="0" rIns="0" bIns="0" rtlCol="0" anchor="ctr">
            <a:normAutofit/>
          </a:bodyPr>
          <a:lstStyle/>
          <a:p>
            <a:pPr indent="0" marL="0">
              <a:buNone/>
            </a:pPr>
            <a:r>
              <a:rPr lang="en-US" sz="1500" dirty="0">
                <a:solidFill>
                  <a:srgbClr val="1A1A1A"/>
                </a:solidFill>
                <a:latin typeface="Calibri" pitchFamily="34" charset="0"/>
                <a:ea typeface="Calibri" pitchFamily="34" charset="-122"/>
                <a:cs typeface="Calibri" pitchFamily="34" charset="-120"/>
              </a:rPr>
              <a:t>Edison Marrese-Taylor, Erica K. Shimomoto, Alfredo Solano, and Enrique Reid. 2025. </a:t>
            </a:r>
            <a:pPr indent="0" marL="0">
              <a:buNone/>
            </a:pPr>
            <a:r>
              <a:rPr lang="en-US" sz="1500" dirty="0">
                <a:solidFill>
                  <a:srgbClr val="1A1A1A"/>
                </a:solidFill>
                <a:latin typeface="Calibri" pitchFamily="34" charset="0"/>
                <a:ea typeface="Calibri" pitchFamily="34" charset="-122"/>
                <a:cs typeface="Calibri" pitchFamily="34" charset="-120"/>
              </a:rPr>
              <a:t>Multilingual definition modeling. </a:t>
            </a:r>
            <a:pPr indent="0" marL="0">
              <a:buNone/>
            </a:pPr>
            <a:r>
              <a:rPr lang="en-US" sz="1500" i="1" dirty="0">
                <a:solidFill>
                  <a:srgbClr val="1A1A1A"/>
                </a:solidFill>
                <a:latin typeface="Calibri" pitchFamily="34" charset="0"/>
                <a:ea typeface="Calibri" pitchFamily="34" charset="-122"/>
                <a:cs typeface="Calibri" pitchFamily="34" charset="-120"/>
              </a:rPr>
              <a:t>Findings of ACL.</a:t>
            </a:r>
            <a:endParaRPr lang="en-US" sz="1500" dirty="0"/>
          </a:p>
        </p:txBody>
      </p:sp>
      <p:sp>
        <p:nvSpPr>
          <p:cNvPr id="81" name="Text 70"/>
          <p:cNvSpPr/>
          <p:nvPr/>
        </p:nvSpPr>
        <p:spPr>
          <a:xfrm>
            <a:off x="960120" y="41120568"/>
            <a:ext cx="13766292" cy="365760"/>
          </a:xfrm>
          <a:prstGeom prst="rect">
            <a:avLst/>
          </a:prstGeom>
          <a:noFill/>
          <a:ln/>
        </p:spPr>
        <p:txBody>
          <a:bodyPr wrap="square" lIns="0" tIns="0" rIns="0" bIns="0" rtlCol="0" anchor="ctr">
            <a:normAutofit/>
          </a:bodyPr>
          <a:lstStyle/>
          <a:p>
            <a:pPr indent="0" marL="0">
              <a:buNone/>
            </a:pPr>
            <a:r>
              <a:rPr lang="en-US" sz="1500" dirty="0">
                <a:solidFill>
                  <a:srgbClr val="1A1A1A"/>
                </a:solidFill>
                <a:latin typeface="Calibri" pitchFamily="34" charset="0"/>
                <a:ea typeface="Calibri" pitchFamily="34" charset="-122"/>
                <a:cs typeface="Calibri" pitchFamily="34" charset="-120"/>
              </a:rPr>
              <a:t>Patrick Lewis, Ethan Perez, Aleksandra Piktus, Fabio Petroni, et al.. 2020. </a:t>
            </a:r>
            <a:pPr indent="0" marL="0">
              <a:buNone/>
            </a:pPr>
            <a:r>
              <a:rPr lang="en-US" sz="1500" dirty="0">
                <a:solidFill>
                  <a:srgbClr val="1A1A1A"/>
                </a:solidFill>
                <a:latin typeface="Calibri" pitchFamily="34" charset="0"/>
                <a:ea typeface="Calibri" pitchFamily="34" charset="-122"/>
                <a:cs typeface="Calibri" pitchFamily="34" charset="-120"/>
              </a:rPr>
              <a:t>Retrieval-augmented generation for knowledge-intensive NLP tasks. </a:t>
            </a:r>
            <a:pPr indent="0" marL="0">
              <a:buNone/>
            </a:pPr>
            <a:r>
              <a:rPr lang="en-US" sz="1500" i="1" dirty="0">
                <a:solidFill>
                  <a:srgbClr val="1A1A1A"/>
                </a:solidFill>
                <a:latin typeface="Calibri" pitchFamily="34" charset="0"/>
                <a:ea typeface="Calibri" pitchFamily="34" charset="-122"/>
                <a:cs typeface="Calibri" pitchFamily="34" charset="-120"/>
              </a:rPr>
              <a:t>NeurIPS.</a:t>
            </a:r>
            <a:endParaRPr lang="en-US" sz="1500" dirty="0"/>
          </a:p>
        </p:txBody>
      </p:sp>
      <p:sp>
        <p:nvSpPr>
          <p:cNvPr id="82" name="Text 71"/>
          <p:cNvSpPr/>
          <p:nvPr/>
        </p:nvSpPr>
        <p:spPr>
          <a:xfrm>
            <a:off x="15549372" y="40023288"/>
            <a:ext cx="13766292" cy="365760"/>
          </a:xfrm>
          <a:prstGeom prst="rect">
            <a:avLst/>
          </a:prstGeom>
          <a:noFill/>
          <a:ln/>
        </p:spPr>
        <p:txBody>
          <a:bodyPr wrap="square" lIns="0" tIns="0" rIns="0" bIns="0" rtlCol="0" anchor="ctr">
            <a:normAutofit/>
          </a:bodyPr>
          <a:lstStyle/>
          <a:p>
            <a:pPr indent="0" marL="0">
              <a:buNone/>
            </a:pPr>
            <a:r>
              <a:rPr lang="en-US" sz="1500" dirty="0">
                <a:solidFill>
                  <a:srgbClr val="1A1A1A"/>
                </a:solidFill>
                <a:latin typeface="Calibri" pitchFamily="34" charset="0"/>
                <a:ea typeface="Calibri" pitchFamily="34" charset="-122"/>
                <a:cs typeface="Calibri" pitchFamily="34" charset="-120"/>
              </a:rPr>
              <a:t>Akari Asai, Zeqiu Wu, Yizhong Wang, Avirup Sil, and Hannaneh Hajishirzi. 2024. </a:t>
            </a:r>
            <a:pPr indent="0" marL="0">
              <a:buNone/>
            </a:pPr>
            <a:r>
              <a:rPr lang="en-US" sz="1500" dirty="0">
                <a:solidFill>
                  <a:srgbClr val="1A1A1A"/>
                </a:solidFill>
                <a:latin typeface="Calibri" pitchFamily="34" charset="0"/>
                <a:ea typeface="Calibri" pitchFamily="34" charset="-122"/>
                <a:cs typeface="Calibri" pitchFamily="34" charset="-120"/>
              </a:rPr>
              <a:t>Self-RAG: learning to retrieve, generate, and critique. </a:t>
            </a:r>
            <a:pPr indent="0" marL="0">
              <a:buNone/>
            </a:pPr>
            <a:r>
              <a:rPr lang="en-US" sz="1500" i="1" dirty="0">
                <a:solidFill>
                  <a:srgbClr val="1A1A1A"/>
                </a:solidFill>
                <a:latin typeface="Calibri" pitchFamily="34" charset="0"/>
                <a:ea typeface="Calibri" pitchFamily="34" charset="-122"/>
                <a:cs typeface="Calibri" pitchFamily="34" charset="-120"/>
              </a:rPr>
              <a:t>ICLR.</a:t>
            </a:r>
            <a:endParaRPr lang="en-US" sz="1500" dirty="0"/>
          </a:p>
        </p:txBody>
      </p:sp>
      <p:sp>
        <p:nvSpPr>
          <p:cNvPr id="83" name="Text 72"/>
          <p:cNvSpPr/>
          <p:nvPr/>
        </p:nvSpPr>
        <p:spPr>
          <a:xfrm>
            <a:off x="15549372" y="40389048"/>
            <a:ext cx="13766292" cy="365760"/>
          </a:xfrm>
          <a:prstGeom prst="rect">
            <a:avLst/>
          </a:prstGeom>
          <a:noFill/>
          <a:ln/>
        </p:spPr>
        <p:txBody>
          <a:bodyPr wrap="square" lIns="0" tIns="0" rIns="0" bIns="0" rtlCol="0" anchor="ctr">
            <a:normAutofit/>
          </a:bodyPr>
          <a:lstStyle/>
          <a:p>
            <a:pPr indent="0" marL="0">
              <a:buNone/>
            </a:pPr>
            <a:r>
              <a:rPr lang="en-US" sz="1500" dirty="0">
                <a:solidFill>
                  <a:srgbClr val="1A1A1A"/>
                </a:solidFill>
                <a:latin typeface="Calibri" pitchFamily="34" charset="0"/>
                <a:ea typeface="Calibri" pitchFamily="34" charset="-122"/>
                <a:cs typeface="Calibri" pitchFamily="34" charset="-120"/>
              </a:rPr>
              <a:t>Soyeong Jeong, Jinheon Baek, Sukmin Cho, and Sung Ju Hwang. 2024. </a:t>
            </a:r>
            <a:pPr indent="0" marL="0">
              <a:buNone/>
            </a:pPr>
            <a:r>
              <a:rPr lang="en-US" sz="1500" dirty="0">
                <a:solidFill>
                  <a:srgbClr val="1A1A1A"/>
                </a:solidFill>
                <a:latin typeface="Calibri" pitchFamily="34" charset="0"/>
                <a:ea typeface="Calibri" pitchFamily="34" charset="-122"/>
                <a:cs typeface="Calibri" pitchFamily="34" charset="-120"/>
              </a:rPr>
              <a:t>Adaptive-RAG: learning to adapt retrieval-augmented large language models. </a:t>
            </a:r>
            <a:pPr indent="0" marL="0">
              <a:buNone/>
            </a:pPr>
            <a:r>
              <a:rPr lang="en-US" sz="1500" i="1" dirty="0">
                <a:solidFill>
                  <a:srgbClr val="1A1A1A"/>
                </a:solidFill>
                <a:latin typeface="Calibri" pitchFamily="34" charset="0"/>
                <a:ea typeface="Calibri" pitchFamily="34" charset="-122"/>
                <a:cs typeface="Calibri" pitchFamily="34" charset="-120"/>
              </a:rPr>
              <a:t>NAACL.</a:t>
            </a:r>
            <a:endParaRPr lang="en-US" sz="1500" dirty="0"/>
          </a:p>
        </p:txBody>
      </p:sp>
      <p:sp>
        <p:nvSpPr>
          <p:cNvPr id="84" name="Text 73"/>
          <p:cNvSpPr/>
          <p:nvPr/>
        </p:nvSpPr>
        <p:spPr>
          <a:xfrm>
            <a:off x="15549372" y="40754808"/>
            <a:ext cx="13766292" cy="365760"/>
          </a:xfrm>
          <a:prstGeom prst="rect">
            <a:avLst/>
          </a:prstGeom>
          <a:noFill/>
          <a:ln/>
        </p:spPr>
        <p:txBody>
          <a:bodyPr wrap="square" lIns="0" tIns="0" rIns="0" bIns="0" rtlCol="0" anchor="ctr">
            <a:normAutofit/>
          </a:bodyPr>
          <a:lstStyle/>
          <a:p>
            <a:pPr indent="0" marL="0">
              <a:buNone/>
            </a:pPr>
            <a:r>
              <a:rPr lang="en-US" sz="1500" dirty="0">
                <a:solidFill>
                  <a:srgbClr val="1A1A1A"/>
                </a:solidFill>
                <a:latin typeface="Calibri" pitchFamily="34" charset="0"/>
                <a:ea typeface="Calibri" pitchFamily="34" charset="-122"/>
                <a:cs typeface="Calibri" pitchFamily="34" charset="-120"/>
              </a:rPr>
              <a:t>Sebastian Farquhar, Jannik Kossen, Lorenz Kuhn, and Yarin Gal. 2024. </a:t>
            </a:r>
            <a:pPr indent="0" marL="0">
              <a:buNone/>
            </a:pPr>
            <a:r>
              <a:rPr lang="en-US" sz="1500" dirty="0">
                <a:solidFill>
                  <a:srgbClr val="1A1A1A"/>
                </a:solidFill>
                <a:latin typeface="Calibri" pitchFamily="34" charset="0"/>
                <a:ea typeface="Calibri" pitchFamily="34" charset="-122"/>
                <a:cs typeface="Calibri" pitchFamily="34" charset="-120"/>
              </a:rPr>
              <a:t>Detecting hallucinations in large language models using semantic entropy. </a:t>
            </a:r>
            <a:pPr indent="0" marL="0">
              <a:buNone/>
            </a:pPr>
            <a:r>
              <a:rPr lang="en-US" sz="1500" i="1" dirty="0">
                <a:solidFill>
                  <a:srgbClr val="1A1A1A"/>
                </a:solidFill>
                <a:latin typeface="Calibri" pitchFamily="34" charset="0"/>
                <a:ea typeface="Calibri" pitchFamily="34" charset="-122"/>
                <a:cs typeface="Calibri" pitchFamily="34" charset="-120"/>
              </a:rPr>
              <a:t>Nature.</a:t>
            </a:r>
            <a:endParaRPr lang="en-US" sz="1500" dirty="0"/>
          </a:p>
        </p:txBody>
      </p:sp>
      <p:sp>
        <p:nvSpPr>
          <p:cNvPr id="85" name="Text 74"/>
          <p:cNvSpPr/>
          <p:nvPr/>
        </p:nvSpPr>
        <p:spPr>
          <a:xfrm>
            <a:off x="15549372" y="41120568"/>
            <a:ext cx="13766292" cy="365760"/>
          </a:xfrm>
          <a:prstGeom prst="rect">
            <a:avLst/>
          </a:prstGeom>
          <a:noFill/>
          <a:ln/>
        </p:spPr>
        <p:txBody>
          <a:bodyPr wrap="square" lIns="0" tIns="0" rIns="0" bIns="0" rtlCol="0" anchor="ctr">
            <a:normAutofit/>
          </a:bodyPr>
          <a:lstStyle/>
          <a:p>
            <a:pPr indent="0" marL="0">
              <a:buNone/>
            </a:pPr>
            <a:r>
              <a:rPr lang="en-US" sz="1500" dirty="0">
                <a:solidFill>
                  <a:srgbClr val="1A1A1A"/>
                </a:solidFill>
                <a:latin typeface="Calibri" pitchFamily="34" charset="0"/>
                <a:ea typeface="Calibri" pitchFamily="34" charset="-122"/>
                <a:cs typeface="Calibri" pitchFamily="34" charset="-120"/>
              </a:rPr>
              <a:t>Xinpeng Wang, Bolei Ma, Chengzhi Hu, Leon Weber-Genzel, et al.. 2024. </a:t>
            </a:r>
            <a:pPr indent="0" marL="0">
              <a:buNone/>
            </a:pPr>
            <a:r>
              <a:rPr lang="en-US" sz="1500" dirty="0">
                <a:solidFill>
                  <a:srgbClr val="1A1A1A"/>
                </a:solidFill>
                <a:latin typeface="Calibri" pitchFamily="34" charset="0"/>
                <a:ea typeface="Calibri" pitchFamily="34" charset="-122"/>
                <a:cs typeface="Calibri" pitchFamily="34" charset="-120"/>
              </a:rPr>
              <a:t>“My answer is C”: first-token probabilities do not match text answers. </a:t>
            </a:r>
            <a:pPr indent="0" marL="0">
              <a:buNone/>
            </a:pPr>
            <a:r>
              <a:rPr lang="en-US" sz="1500" i="1" dirty="0">
                <a:solidFill>
                  <a:srgbClr val="1A1A1A"/>
                </a:solidFill>
                <a:latin typeface="Calibri" pitchFamily="34" charset="0"/>
                <a:ea typeface="Calibri" pitchFamily="34" charset="-122"/>
                <a:cs typeface="Calibri" pitchFamily="34" charset="-120"/>
              </a:rPr>
              <a:t>Findings of ACL.</a:t>
            </a:r>
            <a:endParaRPr lang="en-US" sz="1500" dirty="0"/>
          </a:p>
        </p:txBody>
      </p:sp>
      <p:sp>
        <p:nvSpPr>
          <p:cNvPr id="86" name="Shape 75"/>
          <p:cNvSpPr/>
          <p:nvPr/>
        </p:nvSpPr>
        <p:spPr>
          <a:xfrm>
            <a:off x="0" y="41714928"/>
            <a:ext cx="30275784" cy="1088136"/>
          </a:xfrm>
          <a:prstGeom prst="rect">
            <a:avLst/>
          </a:prstGeom>
          <a:solidFill>
            <a:srgbClr val="2B2B2B"/>
          </a:solidFill>
          <a:ln>
            <a:noFill/>
          </a:ln>
        </p:spPr>
      </p:sp>
      <p:sp>
        <p:nvSpPr>
          <p:cNvPr id="87" name="Text 76"/>
          <p:cNvSpPr/>
          <p:nvPr/>
        </p:nvSpPr>
        <p:spPr>
          <a:xfrm>
            <a:off x="960120" y="41714928"/>
            <a:ext cx="20665440" cy="1088136"/>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Georgia" pitchFamily="34" charset="0"/>
                <a:ea typeface="Georgia" pitchFamily="34" charset="-122"/>
                <a:cs typeface="Georgia" pitchFamily="34" charset="-120"/>
              </a:rPr>
              <a:t>Diagnosis and intervention come apart: an aggregate correlation over models licenses neither per-instance use of the same probe nor the routing built on it.</a:t>
            </a:r>
            <a:endParaRPr lang="en-US" sz="2300" dirty="0"/>
          </a:p>
        </p:txBody>
      </p:sp>
      <p:sp>
        <p:nvSpPr>
          <p:cNvPr id="88" name="Text 77"/>
          <p:cNvSpPr/>
          <p:nvPr/>
        </p:nvSpPr>
        <p:spPr>
          <a:xfrm>
            <a:off x="22366224" y="41714928"/>
            <a:ext cx="6949440" cy="1088136"/>
          </a:xfrm>
          <a:prstGeom prst="rect">
            <a:avLst/>
          </a:prstGeom>
          <a:noFill/>
          <a:ln/>
        </p:spPr>
        <p:txBody>
          <a:bodyPr wrap="square" lIns="0" tIns="0" rIns="0" bIns="0" rtlCol="0" anchor="ctr"/>
          <a:lstStyle/>
          <a:p>
            <a:pPr algn="r" indent="0" marL="0">
              <a:buNone/>
            </a:pPr>
            <a:r>
              <a:rPr lang="en-US" sz="2000" dirty="0">
                <a:solidFill>
                  <a:srgbClr val="DADADA"/>
                </a:solidFill>
                <a:latin typeface="Calibri" pitchFamily="34" charset="0"/>
                <a:ea typeface="Calibri" pitchFamily="34" charset="-122"/>
                <a:cs typeface="Calibri" pitchFamily="34" charset="-120"/>
              </a:rPr>
              <a:t>github.com/youngandlei/definition-only-rag</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Definition-Only RAG for Financial QA</dc:title>
  <dc:subject>PptxGenJS Presentation</dc:subject>
  <dc:creator>Leyi Ouyang</dc:creator>
  <cp:lastModifiedBy>Leyi Ouyang</cp:lastModifiedBy>
  <cp:revision>1</cp:revision>
  <dcterms:created xsi:type="dcterms:W3CDTF">2026-10-07T09:19:38Z</dcterms:created>
  <dcterms:modified xsi:type="dcterms:W3CDTF">2026-10-07T09:19:38Z</dcterms:modified>
</cp:coreProperties>
</file>