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84" r:id="rId36"/>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 Id="rId3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pic>
        <p:nvPicPr>
          <p:cNvPr id="2" name="Image 0" descr="/Users/ouyang/2026/emnlp2026/talk/figures/utokyo_logo.png"/>
          <p:cNvPicPr>
            <a:picLocks noChangeAspect="1"/>
          </p:cNvPicPr>
          <p:nvPr/>
        </p:nvPicPr>
        <p:blipFill>
          <a:blip r:embed="rId1"/>
          <a:stretch>
            <a:fillRect/>
          </a:stretch>
        </p:blipFill>
        <p:spPr>
          <a:xfrm>
            <a:off x="9464040" y="640080"/>
            <a:ext cx="2011680" cy="521026"/>
          </a:xfrm>
          <a:prstGeom prst="rect">
            <a:avLst/>
          </a:prstGeom>
        </p:spPr>
      </p:pic>
      <p:sp>
        <p:nvSpPr>
          <p:cNvPr id="3" name="Text 0"/>
          <p:cNvSpPr/>
          <p:nvPr/>
        </p:nvSpPr>
        <p:spPr>
          <a:xfrm>
            <a:off x="822960" y="2103120"/>
            <a:ext cx="10515600" cy="1143000"/>
          </a:xfrm>
          <a:prstGeom prst="rect">
            <a:avLst/>
          </a:prstGeom>
          <a:noFill/>
        </p:spPr>
        <p:txBody>
          <a:bodyPr wrap="square" lIns="0" tIns="0" rIns="0" bIns="0" rtlCol="0" anchor="ctr"/>
          <a:lstStyle/>
          <a:p>
            <a:pPr marL="0" indent="0">
              <a:buNone/>
            </a:pPr>
            <a:r>
              <a:rPr lang="en-US" sz="3200" b="1" dirty="0">
                <a:solidFill>
                  <a:srgbClr val="23373B"/>
                </a:solidFill>
                <a:latin typeface="Georgia" panose="02040502050405090303" pitchFamily="34" charset="0"/>
                <a:ea typeface="Georgia" panose="02040502050405090303" pitchFamily="34" charset="-122"/>
                <a:cs typeface="Georgia" panose="02040502050405090303" pitchFamily="34" charset="-120"/>
              </a:rPr>
              <a:t>Definition-Only RAG for Financial Question Answering</a:t>
            </a:r>
            <a:endParaRPr lang="en-US" sz="3200" dirty="0"/>
          </a:p>
        </p:txBody>
      </p:sp>
      <p:sp>
        <p:nvSpPr>
          <p:cNvPr id="4" name="Shape 1"/>
          <p:cNvSpPr/>
          <p:nvPr/>
        </p:nvSpPr>
        <p:spPr>
          <a:xfrm>
            <a:off x="868680" y="3364992"/>
            <a:ext cx="5486400" cy="0"/>
          </a:xfrm>
          <a:prstGeom prst="line">
            <a:avLst/>
          </a:prstGeom>
          <a:noFill/>
          <a:ln w="22225">
            <a:solidFill>
              <a:srgbClr val="EB811B"/>
            </a:solidFill>
            <a:prstDash val="solid"/>
          </a:ln>
        </p:spPr>
        <p:txBody>
          <a:bodyPr/>
          <a:p/>
        </p:txBody>
      </p:sp>
      <p:sp>
        <p:nvSpPr>
          <p:cNvPr id="5" name="Text 2"/>
          <p:cNvSpPr/>
          <p:nvPr/>
        </p:nvSpPr>
        <p:spPr>
          <a:xfrm>
            <a:off x="822960" y="3547872"/>
            <a:ext cx="10515600" cy="457200"/>
          </a:xfrm>
          <a:prstGeom prst="rect">
            <a:avLst/>
          </a:prstGeom>
          <a:noFill/>
        </p:spPr>
        <p:txBody>
          <a:bodyPr wrap="square" lIns="0" tIns="0" rIns="0" bIns="0" rtlCol="0" anchor="ctr"/>
          <a:lstStyle/>
          <a:p>
            <a:pPr marL="0" indent="0">
              <a:buNone/>
            </a:pPr>
            <a:r>
              <a:rPr lang="en-US" sz="2000" dirty="0">
                <a:solidFill>
                  <a:srgbClr val="6E7E83"/>
                </a:solidFill>
                <a:latin typeface="Georgia" panose="02040502050405090303" pitchFamily="34" charset="0"/>
                <a:ea typeface="Georgia" panose="02040502050405090303" pitchFamily="34" charset="-122"/>
                <a:cs typeface="Georgia" panose="02040502050405090303" pitchFamily="34" charset="-120"/>
              </a:rPr>
              <a:t>Average Gains and a Diagnostic Boundary</a:t>
            </a:r>
            <a:endParaRPr lang="en-US" sz="2000" dirty="0"/>
          </a:p>
        </p:txBody>
      </p:sp>
      <p:sp>
        <p:nvSpPr>
          <p:cNvPr id="6" name="Text 3"/>
          <p:cNvSpPr/>
          <p:nvPr/>
        </p:nvSpPr>
        <p:spPr>
          <a:xfrm>
            <a:off x="822960" y="4343400"/>
            <a:ext cx="10515600" cy="365760"/>
          </a:xfrm>
          <a:prstGeom prst="rect">
            <a:avLst/>
          </a:prstGeom>
          <a:noFill/>
        </p:spPr>
        <p:txBody>
          <a:bodyPr wrap="square" lIns="0" tIns="0" rIns="0" bIns="0" rtlCol="0" anchor="ctr"/>
          <a:lstStyle/>
          <a:p>
            <a:pPr marL="0" indent="0">
              <a:buNone/>
            </a:pPr>
            <a:r>
              <a:rPr lang="en-US" sz="17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Leyi Ouyang,  Edison Marrese-Taylor,  Yutaka Matsuo</a:t>
            </a:r>
            <a:endParaRPr lang="en-US" sz="1700" dirty="0"/>
          </a:p>
        </p:txBody>
      </p:sp>
      <p:sp>
        <p:nvSpPr>
          <p:cNvPr id="7" name="Text 4"/>
          <p:cNvSpPr/>
          <p:nvPr/>
        </p:nvSpPr>
        <p:spPr>
          <a:xfrm>
            <a:off x="822960" y="4754880"/>
            <a:ext cx="10515600" cy="685800"/>
          </a:xfrm>
          <a:prstGeom prst="rect">
            <a:avLst/>
          </a:prstGeom>
          <a:noFill/>
        </p:spPr>
        <p:txBody>
          <a:bodyPr wrap="square" lIns="0" tIns="0" rIns="0" bIns="0" rtlCol="0" anchor="ctr"/>
          <a:lstStyle/>
          <a:p>
            <a:pPr marL="0" indent="0">
              <a:lnSpc>
                <a:spcPct val="125000"/>
              </a:lnSpc>
              <a:buNone/>
            </a:pPr>
            <a:r>
              <a:rPr lang="en-US" sz="13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The University of Tokyo</a:t>
            </a:r>
            <a:endParaRPr lang="en-US" sz="1350" dirty="0"/>
          </a:p>
        </p:txBody>
      </p:sp>
      <p:sp>
        <p:nvSpPr>
          <p:cNvPr id="8" name="Text 5"/>
          <p:cNvSpPr/>
          <p:nvPr/>
        </p:nvSpPr>
        <p:spPr>
          <a:xfrm>
            <a:off x="822960" y="5715000"/>
            <a:ext cx="10515600" cy="320040"/>
          </a:xfrm>
          <a:prstGeom prst="rect">
            <a:avLst/>
          </a:prstGeom>
          <a:noFill/>
        </p:spPr>
        <p:txBody>
          <a:bodyPr wrap="square" lIns="0" tIns="0" rIns="0" bIns="0" rtlCol="0" anchor="ctr"/>
          <a:lstStyle/>
          <a:p>
            <a:pPr marL="0" indent="0">
              <a:buNone/>
            </a:pPr>
            <a:r>
              <a:rPr lang="en-US" sz="1400" b="1" dirty="0">
                <a:solidFill>
                  <a:srgbClr val="EB811B"/>
                </a:solidFill>
                <a:latin typeface="Times New Roman" panose="02020503050405090304" pitchFamily="34" charset="0"/>
                <a:ea typeface="Times New Roman" panose="02020503050405090304" pitchFamily="34" charset="-122"/>
                <a:cs typeface="Times New Roman" panose="02020503050405090304" pitchFamily="34" charset="-120"/>
              </a:rPr>
              <a:t>Findings of EMNLP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Introduction</a:t>
            </a:r>
            <a:endParaRPr lang="en-US" sz="3300" dirty="0"/>
          </a:p>
        </p:txBody>
      </p:sp>
      <p:sp>
        <p:nvSpPr>
          <p:cNvPr id="3" name="Shape 1"/>
          <p:cNvSpPr/>
          <p:nvPr/>
        </p:nvSpPr>
        <p:spPr>
          <a:xfrm>
            <a:off x="1325880" y="3493008"/>
            <a:ext cx="582507" cy="0"/>
          </a:xfrm>
          <a:prstGeom prst="line">
            <a:avLst/>
          </a:prstGeom>
          <a:noFill/>
          <a:ln w="22225">
            <a:solidFill>
              <a:srgbClr val="EB811B"/>
            </a:solidFill>
            <a:prstDash val="solid"/>
          </a:ln>
        </p:spPr>
      </p:sp>
      <p:sp>
        <p:nvSpPr>
          <p:cNvPr id="4" name="Shape 2"/>
          <p:cNvSpPr/>
          <p:nvPr/>
        </p:nvSpPr>
        <p:spPr>
          <a:xfrm>
            <a:off x="1908387" y="3493008"/>
            <a:ext cx="7281333"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Vocabulary Failures in Specialized QA</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354328"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3</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In a specialized domain a model often misses a question for a reason unrelated to reasoning: it does not know what one term means.</a:t>
            </a:r>
            <a:endParaRPr lang="en-US" sz="2100" dirty="0"/>
          </a:p>
        </p:txBody>
      </p:sp>
      <p:sp>
        <p:nvSpPr>
          <p:cNvPr id="8" name="Text 6"/>
          <p:cNvSpPr/>
          <p:nvPr/>
        </p:nvSpPr>
        <p:spPr>
          <a:xfrm>
            <a:off x="566928" y="2377440"/>
            <a:ext cx="11055096" cy="310896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pattern is general. A misread drug class, two confused legal doctrines and one financial ratio mistaken for another are the same failure.</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Finance makes it measurable. On MMLU Finance a frontier model still misses one question in eight; 7–8B models miss 40–50%.</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Finance also packages the knowledge: one Investopedia glossary, 13,609 terms, one authoritative definition per entry.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Definition Modeling, RAG, and Adaptive Retrieval</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805771"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4</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b="1" dirty="0">
                <a:solidFill>
                  <a:srgbClr val="23373B"/>
                </a:solidFill>
                <a:latin typeface="Georgia" panose="02040502050405090303" pitchFamily="34" charset="0"/>
                <a:ea typeface="Georgia" panose="02040502050405090303" pitchFamily="34" charset="-122"/>
                <a:cs typeface="Georgia" panose="02040502050405090303" pitchFamily="34" charset="-120"/>
              </a:rPr>
              <a:t>Definition modeling</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 the task of </a:t>
            </a:r>
            <a:r>
              <a:rPr lang="en-US" sz="2100" i="1" dirty="0">
                <a:solidFill>
                  <a:srgbClr val="23373B"/>
                </a:solidFill>
                <a:latin typeface="Georgia" panose="02040502050405090303" pitchFamily="34" charset="0"/>
                <a:ea typeface="Georgia" panose="02040502050405090303" pitchFamily="34" charset="-122"/>
                <a:cs typeface="Georgia" panose="02040502050405090303" pitchFamily="34" charset="-120"/>
              </a:rPr>
              <a:t>generating a term's definition and scoring it against a reference </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a:t>
            </a:r>
            <a:r>
              <a:rPr lang="en-US" sz="2100" dirty="0">
                <a:solidFill>
                  <a:srgbClr val="4C5B9A"/>
                </a:solidFill>
                <a:latin typeface="Georgia" panose="02040502050405090303" pitchFamily="34" charset="0"/>
                <a:ea typeface="Georgia" panose="02040502050405090303" pitchFamily="34" charset="-122"/>
                <a:cs typeface="Georgia" panose="02040502050405090303" pitchFamily="34" charset="-120"/>
              </a:rPr>
              <a:t>Noraset et al., 2017</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 A definition is short and has an authoritative reference, so knowledge can be checked term by term.</a:t>
            </a:r>
            <a:endParaRPr lang="en-US" sz="2100" dirty="0"/>
          </a:p>
        </p:txBody>
      </p:sp>
      <p:sp>
        <p:nvSpPr>
          <p:cNvPr id="8" name="Text 6"/>
          <p:cNvSpPr/>
          <p:nvPr/>
        </p:nvSpPr>
        <p:spPr>
          <a:xfrm>
            <a:off x="566928" y="2697480"/>
            <a:ext cx="11055096" cy="292608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Extended to finance by Jhirad et al. (2023), who report an aggregate correlation: models that define financial terms better also score better on financial benchmarks.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Retrieval-augmented generation supplies the knowledge at answer time instead of asking what the model holds (Lewis et al., 2020).</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Adaptive retrieval asks when retrieval should fire, since always retrieving wastes cost and sometimes hurts (Asai et al., 2024; Jeong et al., 2024).</a:t>
            </a:r>
            <a:endParaRPr lang="en-US" sz="1800" dirty="0"/>
          </a:p>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Candidate signals: question properties, model uncertainty such as semantic entropy (Farquhar et al., 2024), or asking the model directly.</a:t>
            </a:r>
            <a:endParaRPr lang="en-US" sz="18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Task, Benchmarks, and Metrics</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2029968"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5</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b="0" dirty="0">
                <a:solidFill>
                  <a:srgbClr val="23373B"/>
                </a:solidFill>
                <a:latin typeface="Georgia" panose="02040502050405090303" pitchFamily="34" charset="0"/>
                <a:ea typeface="Georgia" panose="02040502050405090303" pitchFamily="34" charset="-122"/>
                <a:cs typeface="Georgia" panose="02040502050405090303" pitchFamily="34" charset="-120"/>
              </a:rPr>
              <a:t>Definition modeling scores a model’s own definition of a term against an authoritative reference, so knowledge can be checked term by term. The same measurement is carried into question answering.</a:t>
            </a:r>
            <a:endParaRPr lang="en-US" sz="2100" dirty="0"/>
          </a:p>
        </p:txBody>
      </p:sp>
      <p:sp>
        <p:nvSpPr>
          <p:cNvPr id="8" name="Text 6"/>
          <p:cNvSpPr/>
          <p:nvPr/>
        </p:nvSpPr>
        <p:spPr>
          <a:xfrm>
            <a:off x="566928" y="2377440"/>
            <a:ext cx="11055096" cy="384048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b="1">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Two measurements, because they disagree. </a:t>
            </a:r>
            <a:endParaRPr lang="en-US" sz="1800" dirty="0"/>
            <a:r>
              <a:rPr lang="en-US" sz="18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METEOR (Banerjee and Lavie, 2005) combines unigram precision and recall with synonym matching, and is the metric Jhirad et al. (2023) used for the original financial study. An LLM judge scores sense correctness on a 0–3 scale. A definition can overlap lexically yet assign the wrong sense, or paraphrase the right sense in other words, so every per-question result is reported under both.</a:t>
            </a:r>
          </a:p>
          <a:p>
            <a:pPr marL="342900" indent="-342900">
              <a:lnSpc>
                <a:spcPct val="120000"/>
              </a:lnSpc>
              <a:spcAft>
                <a:spcPts val="900"/>
              </a:spcAft>
              <a:buSzPct val="100000"/>
              <a:buChar char="•"/>
            </a:pPr>
            <a:r>
              <a:rPr lang="en-US" sz="1800" dirty="0" b="1">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MMLU Finance </a:t>
            </a:r>
            <a:endParaRPr lang="en-US" sz="1800" dirty="0"/>
            <a:r>
              <a:rPr lang="en-US" sz="18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is the union of the finance-related MMLU subjects (Hendrycks et al., 2020), 1,124 questions. It ships no knowledge bank of its own, which is what makes it a fair test for an external glossary.</a:t>
            </a:r>
          </a:p>
          <a:p>
            <a:pPr marL="342900" indent="-342900">
              <a:lnSpc>
                <a:spcPct val="120000"/>
              </a:lnSpc>
              <a:spcAft>
                <a:spcPts val="900"/>
              </a:spcAft>
              <a:buSzPct val="100000"/>
              <a:buChar char="•"/>
            </a:pPr>
            <a:r>
              <a:rPr lang="en-US" sz="1800" dirty="0" b="1">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XFinBench </a:t>
            </a:r>
            <a:endParaRPr lang="en-US" sz="1800" dirty="0"/>
            <a:r>
              <a:rPr lang="en-US" sz="18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(Zhang, Cao and Liao, 2025) benchmarks LLMs on complex financial problem solving across several capability splits. We use its Terminology-Understanding split, 1,790 questions whose primary challenge is matching a question to the meaning of a financial term, and so the split closest to MMLU Finance in capability axis.</a:t>
            </a:r>
          </a:p>
          <a:p>
            <a:pPr marL="342900" indent="-342900">
              <a:lnSpc>
                <a:spcPct val="120000"/>
              </a:lnSpc>
              <a:spcAft>
                <a:spcPts val="900"/>
              </a:spcAft>
              <a:buSzPct val="100000"/>
              <a:buChar char="•"/>
            </a:pPr>
            <a:r>
              <a:rPr lang="en-US" sz="18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It also ships its own knowledge bank: 2,899 terms, each with a single textbook-derived definition, shorter and more formulaic than Investopedia’s. It serves as a second reference corpus and as the alternative index for the knowledge-source ablation.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From Model-Level Correlation to Per-Question Routing</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2257213"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6</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Prior work established the correlation across </a:t>
            </a:r>
            <a:r>
              <a:rPr lang="en-US" sz="2100" b="1" dirty="0">
                <a:solidFill>
                  <a:srgbClr val="23373B"/>
                </a:solidFill>
                <a:latin typeface="Georgia" panose="02040502050405090303" pitchFamily="34" charset="0"/>
                <a:ea typeface="Georgia" panose="02040502050405090303" pitchFamily="34" charset="-122"/>
                <a:cs typeface="Georgia" panose="02040502050405090303" pitchFamily="34" charset="-120"/>
              </a:rPr>
              <a:t>whole models</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 Selective retrieval needs it to hold across </a:t>
            </a:r>
            <a:r>
              <a:rPr lang="en-US" sz="2100" b="1" dirty="0">
                <a:solidFill>
                  <a:srgbClr val="23373B"/>
                </a:solidFill>
                <a:latin typeface="Georgia" panose="02040502050405090303" pitchFamily="34" charset="0"/>
                <a:ea typeface="Georgia" panose="02040502050405090303" pitchFamily="34" charset="-122"/>
                <a:cs typeface="Georgia" panose="02040502050405090303" pitchFamily="34" charset="-120"/>
              </a:rPr>
              <a:t>individual questions</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a:t>
            </a:r>
            <a:endParaRPr lang="en-US" sz="2100" dirty="0"/>
          </a:p>
        </p:txBody>
      </p:sp>
      <p:sp>
        <p:nvSpPr>
          <p:cNvPr id="8" name="Text 6"/>
          <p:cNvSpPr/>
          <p:nvPr/>
        </p:nvSpPr>
        <p:spPr>
          <a:xfrm>
            <a:off x="822960" y="2514600"/>
            <a:ext cx="3657600" cy="640080"/>
          </a:xfrm>
          <a:prstGeom prst="rect">
            <a:avLst/>
          </a:prstGeom>
          <a:noFill/>
        </p:spPr>
        <p:txBody>
          <a:bodyPr wrap="square" lIns="0" tIns="0" rIns="0" bIns="0" rtlCol="0" anchor="ctr"/>
          <a:lstStyle/>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definition quality</a:t>
            </a:r>
            <a:endParaRPr lang="en-US" sz="1800" dirty="0"/>
          </a:p>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(model level)</a:t>
            </a:r>
            <a:endParaRPr lang="en-US" sz="1800" dirty="0"/>
          </a:p>
        </p:txBody>
      </p:sp>
      <p:sp>
        <p:nvSpPr>
          <p:cNvPr id="9" name="Text 7"/>
          <p:cNvSpPr/>
          <p:nvPr/>
        </p:nvSpPr>
        <p:spPr>
          <a:xfrm>
            <a:off x="7680960" y="2514600"/>
            <a:ext cx="3657600" cy="640080"/>
          </a:xfrm>
          <a:prstGeom prst="rect">
            <a:avLst/>
          </a:prstGeom>
          <a:noFill/>
        </p:spPr>
        <p:txBody>
          <a:bodyPr wrap="square" lIns="0" tIns="0" rIns="0" bIns="0" rtlCol="0" anchor="ctr"/>
          <a:lstStyle/>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benchmark performance</a:t>
            </a:r>
            <a:endParaRPr lang="en-US" sz="1800" dirty="0"/>
          </a:p>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(model level)</a:t>
            </a:r>
            <a:endParaRPr lang="en-US" sz="1800" dirty="0"/>
          </a:p>
        </p:txBody>
      </p:sp>
      <p:sp>
        <p:nvSpPr>
          <p:cNvPr id="10" name="Shape 8"/>
          <p:cNvSpPr/>
          <p:nvPr/>
        </p:nvSpPr>
        <p:spPr>
          <a:xfrm>
            <a:off x="4709160" y="2834640"/>
            <a:ext cx="2743200" cy="0"/>
          </a:xfrm>
          <a:prstGeom prst="line">
            <a:avLst/>
          </a:prstGeom>
          <a:noFill/>
          <a:ln w="22225">
            <a:solidFill>
              <a:srgbClr val="23373B"/>
            </a:solidFill>
            <a:prstDash val="solid"/>
            <a:tailEnd type="triangle"/>
          </a:ln>
        </p:spPr>
      </p:sp>
      <p:sp>
        <p:nvSpPr>
          <p:cNvPr id="11" name="Text 9"/>
          <p:cNvSpPr/>
          <p:nvPr/>
        </p:nvSpPr>
        <p:spPr>
          <a:xfrm>
            <a:off x="4709160" y="2468880"/>
            <a:ext cx="2743200" cy="292608"/>
          </a:xfrm>
          <a:prstGeom prst="rect">
            <a:avLst/>
          </a:prstGeom>
          <a:noFill/>
        </p:spPr>
        <p:txBody>
          <a:bodyPr wrap="square" lIns="0" tIns="0" rIns="0" bIns="0" rtlCol="0" anchor="ctr"/>
          <a:lstStyle/>
          <a:p>
            <a:pPr marL="0" indent="0" algn="ctr">
              <a:buNone/>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established</a:t>
            </a:r>
            <a:endParaRPr lang="en-US" sz="1600" dirty="0"/>
          </a:p>
        </p:txBody>
      </p:sp>
      <p:sp>
        <p:nvSpPr>
          <p:cNvPr id="12" name="Text 10"/>
          <p:cNvSpPr/>
          <p:nvPr/>
        </p:nvSpPr>
        <p:spPr>
          <a:xfrm>
            <a:off x="822960" y="3977640"/>
            <a:ext cx="3657600" cy="640080"/>
          </a:xfrm>
          <a:prstGeom prst="rect">
            <a:avLst/>
          </a:prstGeom>
          <a:noFill/>
        </p:spPr>
        <p:txBody>
          <a:bodyPr wrap="square" lIns="0" tIns="0" rIns="0" bIns="0" rtlCol="0" anchor="ctr"/>
          <a:lstStyle/>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term knowledge</a:t>
            </a:r>
            <a:endParaRPr lang="en-US" sz="1800" dirty="0"/>
          </a:p>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(per question)</a:t>
            </a:r>
            <a:endParaRPr lang="en-US" sz="1800" dirty="0"/>
          </a:p>
        </p:txBody>
      </p:sp>
      <p:sp>
        <p:nvSpPr>
          <p:cNvPr id="13" name="Text 11"/>
          <p:cNvSpPr/>
          <p:nvPr/>
        </p:nvSpPr>
        <p:spPr>
          <a:xfrm>
            <a:off x="7680960" y="3977640"/>
            <a:ext cx="3657600" cy="640080"/>
          </a:xfrm>
          <a:prstGeom prst="rect">
            <a:avLst/>
          </a:prstGeom>
          <a:noFill/>
        </p:spPr>
        <p:txBody>
          <a:bodyPr wrap="square" lIns="0" tIns="0" rIns="0" bIns="0" rtlCol="0" anchor="ctr"/>
          <a:lstStyle/>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question outcome</a:t>
            </a:r>
            <a:endParaRPr lang="en-US" sz="1800" dirty="0"/>
          </a:p>
          <a:p>
            <a:pPr marL="0" indent="0" algn="ctr">
              <a:buNone/>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(per question)</a:t>
            </a:r>
            <a:endParaRPr lang="en-US" sz="1800" dirty="0"/>
          </a:p>
        </p:txBody>
      </p:sp>
      <p:sp>
        <p:nvSpPr>
          <p:cNvPr id="14" name="Shape 12"/>
          <p:cNvSpPr/>
          <p:nvPr/>
        </p:nvSpPr>
        <p:spPr>
          <a:xfrm>
            <a:off x="4709160" y="4297680"/>
            <a:ext cx="2743200" cy="0"/>
          </a:xfrm>
          <a:prstGeom prst="line">
            <a:avLst/>
          </a:prstGeom>
          <a:noFill/>
          <a:ln w="22225">
            <a:solidFill>
              <a:srgbClr val="EB811B"/>
            </a:solidFill>
            <a:prstDash val="dash"/>
            <a:tailEnd type="triangle"/>
          </a:ln>
        </p:spPr>
      </p:sp>
      <p:sp>
        <p:nvSpPr>
          <p:cNvPr id="15" name="Text 13"/>
          <p:cNvSpPr/>
          <p:nvPr/>
        </p:nvSpPr>
        <p:spPr>
          <a:xfrm>
            <a:off x="4709160" y="3931920"/>
            <a:ext cx="2743200" cy="292608"/>
          </a:xfrm>
          <a:prstGeom prst="rect">
            <a:avLst/>
          </a:prstGeom>
          <a:noFill/>
        </p:spPr>
        <p:txBody>
          <a:bodyPr wrap="square" lIns="0" tIns="0" rIns="0" bIns="0" rtlCol="0" anchor="ctr"/>
          <a:lstStyle/>
          <a:p>
            <a:pPr marL="0" indent="0" algn="ctr">
              <a:buNone/>
            </a:pPr>
            <a:r>
              <a:rPr lang="en-US" sz="1600" dirty="0">
                <a:solidFill>
                  <a:srgbClr val="EB811B"/>
                </a:solidFill>
                <a:latin typeface="Times New Roman" panose="02020503050405090304" pitchFamily="34" charset="0"/>
                <a:ea typeface="Times New Roman" panose="02020503050405090304" pitchFamily="34" charset="-122"/>
                <a:cs typeface="Times New Roman" panose="02020503050405090304" pitchFamily="34" charset="-120"/>
              </a:rPr>
              <a:t>assumed, untested</a:t>
            </a:r>
            <a:endParaRPr lang="en-US" sz="1600" dirty="0"/>
          </a:p>
        </p:txBody>
      </p:sp>
      <p:sp>
        <p:nvSpPr>
          <p:cNvPr id="16" name="Shape 14"/>
          <p:cNvSpPr/>
          <p:nvPr/>
        </p:nvSpPr>
        <p:spPr>
          <a:xfrm>
            <a:off x="2651760" y="3200400"/>
            <a:ext cx="0" cy="685800"/>
          </a:xfrm>
          <a:prstGeom prst="line">
            <a:avLst/>
          </a:prstGeom>
          <a:noFill/>
          <a:ln w="12700">
            <a:solidFill>
              <a:srgbClr val="6E7E83"/>
            </a:solidFill>
            <a:prstDash val="dash"/>
            <a:tailEnd type="triangle"/>
          </a:ln>
        </p:spPr>
      </p:sp>
      <p:sp>
        <p:nvSpPr>
          <p:cNvPr id="17" name="Text 15"/>
          <p:cNvSpPr/>
          <p:nvPr/>
        </p:nvSpPr>
        <p:spPr>
          <a:xfrm>
            <a:off x="566928" y="5120640"/>
            <a:ext cx="11055096" cy="548640"/>
          </a:xfrm>
          <a:prstGeom prst="rect">
            <a:avLst/>
          </a:prstGeom>
          <a:noFill/>
        </p:spPr>
        <p:txBody>
          <a:bodyPr wrap="square" lIns="0" tIns="0" rIns="0" bIns="0" rtlCol="0" anchor="ctr"/>
          <a:lstStyle/>
          <a:p>
            <a:pPr marL="0" indent="0">
              <a:buNone/>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Testing the lower arrow needs a per-question mapping from questions to their load-bearing terms. No such mapping existed.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Contributions</a:t>
            </a:r>
            <a:endParaRPr lang="en-US" sz="3300" dirty="0"/>
          </a:p>
        </p:txBody>
      </p:sp>
      <p:sp>
        <p:nvSpPr>
          <p:cNvPr id="3" name="Shape 1"/>
          <p:cNvSpPr/>
          <p:nvPr/>
        </p:nvSpPr>
        <p:spPr>
          <a:xfrm>
            <a:off x="1325880" y="3493008"/>
            <a:ext cx="1747520" cy="0"/>
          </a:xfrm>
          <a:prstGeom prst="line">
            <a:avLst/>
          </a:prstGeom>
          <a:noFill/>
          <a:ln w="22225">
            <a:solidFill>
              <a:srgbClr val="EB811B"/>
            </a:solidFill>
            <a:prstDash val="solid"/>
          </a:ln>
        </p:spPr>
      </p:sp>
      <p:sp>
        <p:nvSpPr>
          <p:cNvPr id="4" name="Shape 2"/>
          <p:cNvSpPr/>
          <p:nvPr/>
        </p:nvSpPr>
        <p:spPr>
          <a:xfrm>
            <a:off x="3073400" y="3493008"/>
            <a:ext cx="6116320"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Contributions</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3160099"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8</a:t>
            </a:r>
            <a:endParaRPr lang="en-US" sz="1050" dirty="0"/>
          </a:p>
        </p:txBody>
      </p:sp>
      <p:sp>
        <p:nvSpPr>
          <p:cNvPr id="7" name="Text 5"/>
          <p:cNvSpPr/>
          <p:nvPr/>
        </p:nvSpPr>
        <p:spPr>
          <a:xfrm>
            <a:off x="566928" y="1298448"/>
            <a:ext cx="11055096" cy="493776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structured cross-model gain for definition-only retrieval on financial QA: on two benchmarks the two mid-capability open models gain under a paired bootstrap while the larger and frontier models stay within noise.</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controlled Definition Probe that maps the mechanism's upper bound, in which the retrieved definition determines the answer.</a:t>
            </a:r>
            <a:endParaRPr lang="en-US" sz="1800" dirty="0"/>
          </a:p>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human-validated per-question term annotation for MMLU Finance (κ = 0.76), the connector that links term-level knowledge to per-question outcomes.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direct per-question test of the diagnosis-to-intervention claim, with the full routing-signal sweep against an implementable oracle.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Proposal</a:t>
            </a:r>
            <a:endParaRPr lang="en-US" sz="3300" dirty="0"/>
          </a:p>
        </p:txBody>
      </p:sp>
      <p:sp>
        <p:nvSpPr>
          <p:cNvPr id="3" name="Shape 1"/>
          <p:cNvSpPr/>
          <p:nvPr/>
        </p:nvSpPr>
        <p:spPr>
          <a:xfrm>
            <a:off x="1325880" y="3493008"/>
            <a:ext cx="2330027" cy="0"/>
          </a:xfrm>
          <a:prstGeom prst="line">
            <a:avLst/>
          </a:prstGeom>
          <a:noFill/>
          <a:ln w="22225">
            <a:solidFill>
              <a:srgbClr val="EB811B"/>
            </a:solidFill>
            <a:prstDash val="solid"/>
          </a:ln>
        </p:spPr>
      </p:sp>
      <p:sp>
        <p:nvSpPr>
          <p:cNvPr id="4" name="Shape 2"/>
          <p:cNvSpPr/>
          <p:nvPr/>
        </p:nvSpPr>
        <p:spPr>
          <a:xfrm>
            <a:off x="3655907" y="3493008"/>
            <a:ext cx="5533813"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Research Questions</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4062984"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10</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One signal, term knowledge, studied at two operational levels on a single fixed glossary.</a:t>
            </a:r>
            <a:endParaRPr lang="en-US" sz="2100" dirty="0"/>
          </a:p>
        </p:txBody>
      </p:sp>
      <p:sp>
        <p:nvSpPr>
          <p:cNvPr id="8" name="Text 6"/>
          <p:cNvSpPr/>
          <p:nvPr/>
        </p:nvSpPr>
        <p:spPr>
          <a:xfrm>
            <a:off x="566928" y="2514600"/>
            <a:ext cx="11055096" cy="457200"/>
          </a:xfrm>
          <a:prstGeom prst="rect">
            <a:avLst/>
          </a:prstGeom>
          <a:noFill/>
        </p:spPr>
        <p:txBody>
          <a:bodyPr wrap="square" lIns="0" tIns="0" rIns="0" bIns="0" rtlCol="0" anchor="ctr"/>
          <a:lstStyle/>
          <a:p>
            <a:pPr marL="0" indent="0">
              <a:buNone/>
            </a:pPr>
            <a:r>
              <a:rPr lang="en-US" sz="2100" b="1" dirty="0">
                <a:solidFill>
                  <a:srgbClr val="EB811B"/>
                </a:solidFill>
                <a:latin typeface="Georgia" panose="02040502050405090303" pitchFamily="34" charset="0"/>
                <a:ea typeface="Georgia" panose="02040502050405090303" pitchFamily="34" charset="-122"/>
                <a:cs typeface="Georgia" panose="02040502050405090303" pitchFamily="34" charset="-120"/>
              </a:rPr>
              <a:t>RQ1</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   Does injecting a retrieved definition improve financial QA on average?</a:t>
            </a:r>
            <a:endParaRPr lang="en-US" sz="2100" dirty="0"/>
          </a:p>
        </p:txBody>
      </p:sp>
      <p:sp>
        <p:nvSpPr>
          <p:cNvPr id="9" name="Text 7"/>
          <p:cNvSpPr/>
          <p:nvPr/>
        </p:nvSpPr>
        <p:spPr>
          <a:xfrm>
            <a:off x="1389888" y="3017520"/>
            <a:ext cx="10232136" cy="502920"/>
          </a:xfrm>
          <a:prstGeom prst="rect">
            <a:avLst/>
          </a:prstGeom>
          <a:noFill/>
        </p:spPr>
        <p:txBody>
          <a:bodyPr wrap="square" lIns="0" tIns="0" rIns="0" bIns="0" rtlCol="0" anchor="t">
            <a:normAutofit/>
          </a:bodyPr>
          <a:lstStyle/>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The payload is restricted to one glossary definition, the smallest auditable unit a retriever can inject.</a:t>
            </a:r>
            <a:endParaRPr lang="en-US" sz="1600" dirty="0"/>
          </a:p>
        </p:txBody>
      </p:sp>
      <p:sp>
        <p:nvSpPr>
          <p:cNvPr id="10" name="Text 8"/>
          <p:cNvSpPr/>
          <p:nvPr/>
        </p:nvSpPr>
        <p:spPr>
          <a:xfrm>
            <a:off x="566928" y="3840480"/>
            <a:ext cx="11055096" cy="457200"/>
          </a:xfrm>
          <a:prstGeom prst="rect">
            <a:avLst/>
          </a:prstGeom>
          <a:noFill/>
        </p:spPr>
        <p:txBody>
          <a:bodyPr wrap="square" lIns="0" tIns="0" rIns="0" bIns="0" rtlCol="0" anchor="ctr"/>
          <a:lstStyle/>
          <a:p>
            <a:pPr marL="0" indent="0">
              <a:buNone/>
            </a:pPr>
            <a:r>
              <a:rPr lang="en-US" sz="2100" b="1" dirty="0">
                <a:solidFill>
                  <a:srgbClr val="EB811B"/>
                </a:solidFill>
                <a:latin typeface="Georgia" panose="02040502050405090303" pitchFamily="34" charset="0"/>
                <a:ea typeface="Georgia" panose="02040502050405090303" pitchFamily="34" charset="-122"/>
                <a:cs typeface="Georgia" panose="02040502050405090303" pitchFamily="34" charset="-120"/>
              </a:rPr>
              <a:t>RQ2</a:t>
            </a: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   Can the model's own term knowledge say, per question, whether it is needed?</a:t>
            </a:r>
            <a:endParaRPr lang="en-US" sz="2100" dirty="0"/>
          </a:p>
        </p:txBody>
      </p:sp>
      <p:sp>
        <p:nvSpPr>
          <p:cNvPr id="11" name="Text 9"/>
          <p:cNvSpPr/>
          <p:nvPr/>
        </p:nvSpPr>
        <p:spPr>
          <a:xfrm>
            <a:off x="1389888" y="4343400"/>
            <a:ext cx="10232136" cy="502920"/>
          </a:xfrm>
          <a:prstGeom prst="rect">
            <a:avLst/>
          </a:prstGeom>
          <a:noFill/>
        </p:spPr>
        <p:txBody>
          <a:bodyPr wrap="square" lIns="0" tIns="0" rIns="0" bIns="0" rtlCol="0" anchor="t">
            <a:normAutofit/>
          </a:bodyPr>
          <a:lstStyle/>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This is the selective, retrieve-only-when-needed policy a deployment wants.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Approach</a:t>
            </a:r>
            <a:endParaRPr lang="en-US" sz="3300" dirty="0"/>
          </a:p>
        </p:txBody>
      </p:sp>
      <p:sp>
        <p:nvSpPr>
          <p:cNvPr id="3" name="Shape 1"/>
          <p:cNvSpPr/>
          <p:nvPr/>
        </p:nvSpPr>
        <p:spPr>
          <a:xfrm>
            <a:off x="1325880" y="3493008"/>
            <a:ext cx="2912533" cy="0"/>
          </a:xfrm>
          <a:prstGeom prst="line">
            <a:avLst/>
          </a:prstGeom>
          <a:noFill/>
          <a:ln w="22225">
            <a:solidFill>
              <a:srgbClr val="EB811B"/>
            </a:solidFill>
            <a:prstDash val="solid"/>
          </a:ln>
        </p:spPr>
      </p:sp>
      <p:sp>
        <p:nvSpPr>
          <p:cNvPr id="4" name="Shape 2"/>
          <p:cNvSpPr/>
          <p:nvPr/>
        </p:nvSpPr>
        <p:spPr>
          <a:xfrm>
            <a:off x="4238413" y="3493008"/>
            <a:ext cx="4951307"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One Question Through the Pipeline</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4965869"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12</a:t>
            </a:r>
            <a:endParaRPr lang="en-US" sz="1050" dirty="0"/>
          </a:p>
        </p:txBody>
      </p:sp>
      <p:pic>
        <p:nvPicPr>
          <p:cNvPr id="7" name="Image 0" descr="/Users/ouyang/2026/emnlp2026/talk/figures/fig31_pipeline.png"/>
          <p:cNvPicPr>
            <a:picLocks noChangeAspect="1"/>
          </p:cNvPicPr>
          <p:nvPr/>
        </p:nvPicPr>
        <p:blipFill>
          <a:blip r:embed="rId1"/>
          <a:stretch>
            <a:fillRect/>
          </a:stretch>
        </p:blipFill>
        <p:spPr>
          <a:xfrm>
            <a:off x="3429000" y="1005840"/>
            <a:ext cx="5120640" cy="3705239"/>
          </a:xfrm>
          <a:prstGeom prst="rect">
            <a:avLst/>
          </a:prstGeom>
        </p:spPr>
      </p:pic>
      <p:sp>
        <p:nvSpPr>
          <p:cNvPr id="8" name="Text 5"/>
          <p:cNvSpPr/>
          <p:nvPr/>
        </p:nvSpPr>
        <p:spPr>
          <a:xfrm>
            <a:off x="3429000" y="4754880"/>
            <a:ext cx="5120640" cy="438912"/>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Figure 1.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The retrieval and scoring pipeline, fixed across all experiments.</a:t>
            </a:r>
            <a:endParaRPr lang="en-US" sz="1400" dirty="0"/>
          </a:p>
        </p:txBody>
      </p:sp>
      <p:sp>
        <p:nvSpPr>
          <p:cNvPr id="9" name="Text 6"/>
          <p:cNvSpPr/>
          <p:nvPr/>
        </p:nvSpPr>
        <p:spPr>
          <a:xfrm>
            <a:off x="566928" y="5285232"/>
            <a:ext cx="11055096" cy="118872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Lexical and dense retrievers each propose 12 candidates, fused by reciprocal rank, reranked by a cross-encoder; the top-3 definitions follow the question.</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Option letters are scored by log-probability at temperature 0. The pipeline is fixed across every experiment.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The Paired Evaluation Design</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5417312"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13</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Each question is answered twice, with the definitions and without, and the two outcomes are compared on the same question.</a:t>
            </a:r>
            <a:endParaRPr lang="en-US" sz="2100" dirty="0"/>
          </a:p>
        </p:txBody>
      </p:sp>
      <mc:AlternateContent xmlns:mc="http://schemas.openxmlformats.org/markup-compatibility/2006" xmlns:a14="http://schemas.microsoft.com/office/drawing/2010/main">
        <mc:Choice Requires="a14">
          <p:graphicFrame>
            <p:nvGraphicFramePr>
              <p:cNvPr id="13" name="Table 0"/>
              <p:cNvGraphicFramePr>
                <a:graphicFrameLocks noGrp="1"/>
              </p:cNvGraphicFramePr>
              <p:nvPr/>
            </p:nvGraphicFramePr>
            <p:xfrm>
              <a:off x="2377440" y="2606040"/>
              <a:ext cx="7406640" cy="1207008"/>
            </p:xfrm>
            <a:graphic>
              <a:graphicData uri="http://schemas.openxmlformats.org/drawingml/2006/table">
                <a:tbl>
                  <a:tblPr/>
                  <a:tblGrid>
                    <a:gridCol w="2377440"/>
                    <a:gridCol w="2514600"/>
                    <a:gridCol w="2514600"/>
                  </a:tblGrid>
                  <a:tr h="402336">
                    <a:tc>
                      <a:txBody>
                        <a:bodyPr/>
                        <a:lstStyle/>
                        <a:p>
                          <a:pPr marL="0" indent="0" algn="l">
                            <a:buNone/>
                          </a:pPr>
                          <a:endParaRPr lang="en-US" sz="1600" dirty="0">
                            <a:latin typeface="Times New Roman Regular" panose="02020503050405090304" charset="0"/>
                            <a:ea typeface="Times New Roman" panose="02020503050405090304" pitchFamily="34" charset="0"/>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no-RAG correct</a:t>
                          </a:r>
                          <a:endPar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no-RAG wrong</a:t>
                          </a:r>
                          <a:endPar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402336">
                    <a:tc>
                      <a:txBody>
                        <a:bodyPr/>
                        <a:lstStyle/>
                        <a:p>
                          <a:pPr marL="0" indent="0" algn="l">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+RAG correct</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unchanged</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fixed   </a:t>
                          </a:r>
                          <a14:m>
                            <m:oMath xmlns:m="http://schemas.openxmlformats.org/officeDocument/2006/math">
                              <m:sSub>
                                <m:sSubPr>
                                  <m:ctrlP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p</m:t>
                                  </m:r>
                                </m:e>
                                <m:sub>
                                  <m: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𝟏𝟎</m:t>
                                  </m:r>
                                </m:sub>
                              </m:sSub>
                            </m:oMath>
                          </a14:m>
                          <a:endParaRPr lang="en-US" sz="1600" dirty="0">
                            <a:latin typeface="Times New Roman Regular" panose="02020503050405090304" charset="0"/>
                            <a:ea typeface="Times New Roman" panose="02020503050405090304" pitchFamily="34" charset="0"/>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402336">
                    <a:tc>
                      <a:txBody>
                        <a:bodyPr/>
                        <a:lstStyle/>
                        <a:p>
                          <a:pPr marL="0" indent="0" algn="l">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+RAG wrong</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broken   </a:t>
                          </a:r>
                          <a14:m>
                            <m:oMath xmlns:m="http://schemas.openxmlformats.org/officeDocument/2006/math">
                              <m:sSub>
                                <m:sSubPr>
                                  <m:ctrlP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p</m:t>
                                  </m:r>
                                </m:e>
                                <m:sub>
                                  <m:r>
                                    <a:rPr lang="en-US" sz="1600"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𝟎𝟏</m:t>
                                  </m:r>
                                </m:sub>
                              </m:sSub>
                            </m:oMath>
                          </a14:m>
                          <a:endParaRPr lang="en-US" sz="1600" dirty="0">
                            <a:latin typeface="Times New Roman Regular" panose="02020503050405090304" charset="0"/>
                            <a:ea typeface="Times New Roman" panose="02020503050405090304" pitchFamily="34" charset="0"/>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unchanged</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mc:Choice>
        <mc:Fallback xmlns="">
          <p:graphicFrame>
            <p:nvGraphicFramePr>
              <p:cNvPr id="13" name="Table 0"/>
              <p:cNvGraphicFramePr>
                <a:graphicFrameLocks noGrp="1"/>
              </p:cNvGraphicFramePr>
              <p:nvPr/>
            </p:nvGraphicFramePr>
            <p:xfrm>
              <a:off x="2377440" y="2606040"/>
              <a:ext cx="7406640" cy="1207008"/>
            </p:xfrm>
            <a:graphic>
              <a:graphicData uri="http://schemas.openxmlformats.org/drawingml/2006/table">
                <a:tbl>
                  <a:tblPr/>
                  <a:tblGrid>
                    <a:gridCol w="2377440"/>
                    <a:gridCol w="2514600"/>
                    <a:gridCol w="2514600"/>
                  </a:tblGrid>
                  <a:tr h="402336">
                    <a:tc>
                      <a:txBody>
                        <a:bodyPr/>
                        <a:lstStyle/>
                        <a:p>
                          <a:pPr marL="0" indent="0" algn="l">
                            <a:buNone/>
                          </a:pPr>
                          <a:endParaRPr lang="en-US" sz="1600" dirty="0">
                            <a:latin typeface="Times New Roman Regular" panose="02020503050405090304" charset="0"/>
                            <a:ea typeface="Times New Roman" panose="02020503050405090304" pitchFamily="34" charset="0"/>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no-RAG correct</a:t>
                          </a:r>
                          <a:endPar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no-RAG wrong</a:t>
                          </a:r>
                          <a:endParaRPr lang="en-US" sz="1600" b="1"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401955">
                    <a:tc>
                      <a:txBody>
                        <a:bodyPr/>
                        <a:lstStyle/>
                        <a:p>
                          <a:pPr marL="0" indent="0" algn="l">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+RAG correct</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unchanged</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endParaRPr lang="zh-CN"/>
                        </a:p>
                      </a:txBody>
                      <a:tcPr marL="64008" marR="64008" marT="18288" marB="18288" anchor="ctr">
                        <a:lnL w="0" cap="flat" cmpd="sng" algn="ctr">
                          <a:noFill/>
                        </a:lnL>
                        <a:lnR w="0" cap="flat" cmpd="sng" algn="ctr">
                          <a:noFill/>
                        </a:lnR>
                        <a:lnT w="0" cap="flat" cmpd="sng" algn="ctr">
                          <a:noFill/>
                        </a:lnT>
                        <a:lnB w="0" cap="flat" cmpd="sng" algn="ctr">
                          <a:noFill/>
                        </a:lnB>
                        <a:blipFill>
                          <a:blip r:embed="rId1"/>
                        </a:blipFill>
                      </a:tcPr>
                    </a:tc>
                  </a:tr>
                  <a:tr h="402590">
                    <a:tc>
                      <a:txBody>
                        <a:bodyPr/>
                        <a:lstStyle/>
                        <a:p>
                          <a:pPr marL="0" indent="0" algn="l">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+RAG wrong</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endParaRPr lang="zh-CN"/>
                        </a:p>
                      </a:txBody>
                      <a:tcPr marL="64008" marR="64008" marT="18288" marB="18288" anchor="ctr">
                        <a:lnL w="0" cap="flat" cmpd="sng" algn="ctr">
                          <a:noFill/>
                        </a:lnL>
                        <a:lnR w="0" cap="flat" cmpd="sng" algn="ctr">
                          <a:noFill/>
                        </a:lnR>
                        <a:lnT w="0" cap="flat" cmpd="sng" algn="ctr">
                          <a:noFill/>
                        </a:lnT>
                        <a:lnB w="0" cap="flat" cmpd="sng" algn="ctr">
                          <a:noFill/>
                        </a:lnB>
                        <a:blipFill>
                          <a:blip r:embed="rId1"/>
                        </a:blipFill>
                      </a:tcPr>
                    </a:tc>
                    <a:tc>
                      <a:txBody>
                        <a:bodyPr/>
                        <a:lstStyle/>
                        <a:p>
                          <a:pPr marL="0" indent="0" algn="r">
                            <a:buNone/>
                          </a:pPr>
                          <a:r>
                            <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unchanged</a:t>
                          </a:r>
                          <a:endParaRPr lang="en-US" sz="1600" dirty="0">
                            <a:solidFill>
                              <a:srgbClr val="23373B"/>
                            </a:solidFill>
                            <a:latin typeface="Times New Roman Regular" panose="02020503050405090304" charset="0"/>
                            <a:ea typeface="Times New Roman" panose="02020503050405090304" pitchFamily="34" charset="-122"/>
                            <a:cs typeface="Times New Roman Regular" panose="0202050305040509030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mc:Fallback>
      </mc:AlternateContent>
      <p:sp>
        <p:nvSpPr>
          <p:cNvPr id="9" name="Shape 6"/>
          <p:cNvSpPr/>
          <p:nvPr/>
        </p:nvSpPr>
        <p:spPr>
          <a:xfrm>
            <a:off x="2377440" y="2592324"/>
            <a:ext cx="7406640" cy="20117"/>
          </a:xfrm>
          <a:prstGeom prst="rect">
            <a:avLst/>
          </a:prstGeom>
          <a:solidFill>
            <a:srgbClr val="23373B"/>
          </a:solidFill>
          <a:ln>
            <a:noFill/>
          </a:ln>
        </p:spPr>
      </p:sp>
      <p:sp>
        <p:nvSpPr>
          <p:cNvPr id="10" name="Shape 7"/>
          <p:cNvSpPr/>
          <p:nvPr/>
        </p:nvSpPr>
        <p:spPr>
          <a:xfrm>
            <a:off x="2377440" y="2999232"/>
            <a:ext cx="7406640" cy="10973"/>
          </a:xfrm>
          <a:prstGeom prst="rect">
            <a:avLst/>
          </a:prstGeom>
          <a:solidFill>
            <a:srgbClr val="6E7E83"/>
          </a:solidFill>
          <a:ln>
            <a:noFill/>
          </a:ln>
        </p:spPr>
      </p:sp>
      <p:sp>
        <p:nvSpPr>
          <p:cNvPr id="11" name="Shape 8"/>
          <p:cNvSpPr/>
          <p:nvPr/>
        </p:nvSpPr>
        <p:spPr>
          <a:xfrm>
            <a:off x="2377440" y="3813048"/>
            <a:ext cx="7406640" cy="20117"/>
          </a:xfrm>
          <a:prstGeom prst="rect">
            <a:avLst/>
          </a:prstGeom>
          <a:solidFill>
            <a:srgbClr val="23373B"/>
          </a:solidFill>
          <a:ln>
            <a:noFill/>
          </a:ln>
        </p:spPr>
      </p:sp>
      <mc:AlternateContent xmlns:mc="http://schemas.openxmlformats.org/markup-compatibility/2006">
        <mc:Choice xmlns:a14="http://schemas.microsoft.com/office/drawing/2010/main" Requires="a14">
          <p:sp>
            <p:nvSpPr>
              <p:cNvPr id="12" name="Text 9"/>
              <p:cNvSpPr/>
              <p:nvPr/>
            </p:nvSpPr>
            <p:spPr>
              <a:xfrm>
                <a:off x="566928" y="4343400"/>
                <a:ext cx="11055096" cy="14630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Net gain is the fix rate minus the break rate; the flip rate is their sum.</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per-question oracle would collect </a:t>
                </a:r>
                <a14:m>
                  <m:oMath xmlns:m="http://schemas.openxmlformats.org/officeDocument/2006/math">
                    <m:sSub>
                      <m:sSubPr>
                        <m:ctrlP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𝑝</m:t>
                        </m:r>
                      </m:e>
                      <m:sub>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𝟏𝟎</m:t>
                        </m:r>
                      </m:sub>
                    </m:sSub>
                  </m:oMath>
                </a14:m>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 without paying </a:t>
                </a:r>
                <a14:m>
                  <m:oMath xmlns:m="http://schemas.openxmlformats.org/officeDocument/2006/math">
                    <m:sSub>
                      <m:sSubPr>
                        <m:ctrlP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𝑝</m:t>
                        </m:r>
                      </m:e>
                      <m:sub>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𝟎𝟏</m:t>
                        </m:r>
                      </m:sub>
                    </m:sSub>
                  </m:oMath>
                </a14:m>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 so </a:t>
                </a:r>
                <a14:m>
                  <m:oMath xmlns:m="http://schemas.openxmlformats.org/officeDocument/2006/math">
                    <m:sSub>
                      <m:sSubPr>
                        <m:ctrlP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𝑝</m:t>
                        </m:r>
                      </m:e>
                      <m:sub>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𝟎𝟏</m:t>
                        </m:r>
                      </m:sub>
                    </m:sSub>
                  </m:oMath>
                </a14:m>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 is exactly the headroom any routing signal must recover.</a:t>
                </a:r>
                <a:endParaRPr lang="en-US" sz="1800" dirty="0"/>
              </a:p>
            </p:txBody>
          </p:sp>
        </mc:Choice>
        <mc:Fallback>
          <p:sp>
            <p:nvSpPr>
              <p:cNvPr id="12" name="Text 9"/>
              <p:cNvSpPr>
                <a:spLocks noRot="1" noChangeAspect="1" noMove="1" noResize="1" noEditPoints="1" noAdjustHandles="1" noChangeArrowheads="1" noChangeShapeType="1" noTextEdit="1"/>
              </p:cNvSpPr>
              <p:nvPr/>
            </p:nvSpPr>
            <p:spPr>
              <a:xfrm>
                <a:off x="566928" y="4343400"/>
                <a:ext cx="11055096" cy="1463040"/>
              </a:xfrm>
              <a:prstGeom prst="rect">
                <a:avLst/>
              </a:prstGeom>
              <a:blipFill rotWithShape="1">
                <a:blip r:embed="rId2"/>
                <a:stretch>
                  <a:fillRect l="-5" r="2"/>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Data</a:t>
            </a:r>
            <a:endParaRPr lang="en-US" sz="3300" dirty="0"/>
          </a:p>
        </p:txBody>
      </p:sp>
      <p:sp>
        <p:nvSpPr>
          <p:cNvPr id="3" name="Shape 1"/>
          <p:cNvSpPr/>
          <p:nvPr/>
        </p:nvSpPr>
        <p:spPr>
          <a:xfrm>
            <a:off x="1325880" y="3493008"/>
            <a:ext cx="3786293" cy="0"/>
          </a:xfrm>
          <a:prstGeom prst="line">
            <a:avLst/>
          </a:prstGeom>
          <a:noFill/>
          <a:ln w="22225">
            <a:solidFill>
              <a:srgbClr val="EB811B"/>
            </a:solidFill>
            <a:prstDash val="solid"/>
          </a:ln>
        </p:spPr>
      </p:sp>
      <p:sp>
        <p:nvSpPr>
          <p:cNvPr id="4" name="Shape 2"/>
          <p:cNvSpPr/>
          <p:nvPr/>
        </p:nvSpPr>
        <p:spPr>
          <a:xfrm>
            <a:off x="5112173" y="3493008"/>
            <a:ext cx="4077547"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txBody>
          <a:bodyPr/>
          <a:p/>
        </p:txBody>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Glossary and Benchmarks</a:t>
            </a:r>
            <a:endParaRPr lang="en-US" sz="2200" dirty="0"/>
          </a:p>
        </p:txBody>
      </p:sp>
      <p:sp>
        <p:nvSpPr>
          <p:cNvPr id="4" name="Shape 2"/>
          <p:cNvSpPr/>
          <p:nvPr/>
        </p:nvSpPr>
        <p:spPr>
          <a:xfrm>
            <a:off x="0" y="713232"/>
            <a:ext cx="12188952" cy="41148"/>
          </a:xfrm>
          <a:prstGeom prst="rect">
            <a:avLst/>
          </a:prstGeom>
          <a:solidFill>
            <a:srgbClr val="D3D8D8"/>
          </a:solidFill>
          <a:ln>
            <a:noFill/>
          </a:ln>
        </p:spPr>
        <p:txBody>
          <a:bodyPr/>
          <a:p/>
        </p:txBody>
      </p:sp>
      <p:sp>
        <p:nvSpPr>
          <p:cNvPr id="5" name="Shape 3"/>
          <p:cNvSpPr/>
          <p:nvPr/>
        </p:nvSpPr>
        <p:spPr>
          <a:xfrm>
            <a:off x="0" y="713232"/>
            <a:ext cx="6320197" cy="41148"/>
          </a:xfrm>
          <a:prstGeom prst="rect">
            <a:avLst/>
          </a:prstGeom>
          <a:solidFill>
            <a:srgbClr val="EB811B"/>
          </a:solidFill>
          <a:ln>
            <a:noFill/>
          </a:ln>
        </p:spPr>
        <p:txBody>
          <a:bodyPr/>
          <a:p/>
        </p:txBody>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15</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One glossary serves as both the retrieval index and the reference set for definition modeling.</a:t>
            </a:r>
            <a:endParaRPr lang="en-US" sz="2100" dirty="0"/>
          </a:p>
        </p:txBody>
      </p:sp>
      <p:graphicFrame>
        <p:nvGraphicFramePr>
          <p:cNvPr id="15" name="Table 0"/>
          <p:cNvGraphicFramePr>
            <a:graphicFrameLocks noGrp="1"/>
          </p:cNvGraphicFramePr>
          <p:nvPr/>
        </p:nvGraphicFramePr>
        <p:xfrm>
          <a:off x="1371600" y="2514600"/>
          <a:ext cx="9418320" cy="1536192"/>
        </p:xfrm>
        <a:graphic>
          <a:graphicData uri="http://schemas.openxmlformats.org/drawingml/2006/table">
            <a:tbl>
              <a:tblPr/>
              <a:tblGrid>
                <a:gridCol w="3749040"/>
                <a:gridCol w="1920240"/>
                <a:gridCol w="3749040"/>
              </a:tblGrid>
              <a:tr h="384048">
                <a:tc>
                  <a:txBody>
                    <a:bodyPr/>
                    <a:lstStyle/>
                    <a:p>
                      <a:pPr marL="0" indent="0" algn="l">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Resource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Size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Role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Investopedia glossary</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13,609 terms</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index + reference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MMLU Finance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1,124 q</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primary benchmark</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XFinBench TU</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1,790 q</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replication, second group</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9" name="Shape 6"/>
          <p:cNvSpPr/>
          <p:nvPr/>
        </p:nvSpPr>
        <p:spPr>
          <a:xfrm>
            <a:off x="1371600" y="2500884"/>
            <a:ext cx="9418320" cy="20117"/>
          </a:xfrm>
          <a:prstGeom prst="rect">
            <a:avLst/>
          </a:prstGeom>
          <a:solidFill>
            <a:srgbClr val="23373B"/>
          </a:solidFill>
          <a:ln>
            <a:noFill/>
          </a:ln>
        </p:spPr>
        <p:txBody>
          <a:bodyPr/>
          <a:p/>
        </p:txBody>
      </p:sp>
      <p:sp>
        <p:nvSpPr>
          <p:cNvPr id="10" name="Shape 7"/>
          <p:cNvSpPr/>
          <p:nvPr/>
        </p:nvSpPr>
        <p:spPr>
          <a:xfrm>
            <a:off x="1371600" y="2889504"/>
            <a:ext cx="9418320" cy="10973"/>
          </a:xfrm>
          <a:prstGeom prst="rect">
            <a:avLst/>
          </a:prstGeom>
          <a:solidFill>
            <a:srgbClr val="6E7E83"/>
          </a:solidFill>
          <a:ln>
            <a:noFill/>
          </a:ln>
        </p:spPr>
        <p:txBody>
          <a:bodyPr/>
          <a:p/>
        </p:txBody>
      </p:sp>
      <p:sp>
        <p:nvSpPr>
          <p:cNvPr id="11" name="Shape 8"/>
          <p:cNvSpPr/>
          <p:nvPr/>
        </p:nvSpPr>
        <p:spPr>
          <a:xfrm>
            <a:off x="1371600" y="4050792"/>
            <a:ext cx="9418320" cy="20117"/>
          </a:xfrm>
          <a:prstGeom prst="rect">
            <a:avLst/>
          </a:prstGeom>
          <a:solidFill>
            <a:srgbClr val="23373B"/>
          </a:solidFill>
          <a:ln>
            <a:noFill/>
          </a:ln>
        </p:spPr>
        <p:txBody>
          <a:bodyPr/>
          <a:p/>
        </p:txBody>
      </p:sp>
      <p:sp>
        <p:nvSpPr>
          <p:cNvPr id="12" name="Text 9"/>
          <p:cNvSpPr/>
          <p:nvPr/>
        </p:nvSpPr>
        <p:spPr>
          <a:xfrm>
            <a:off x="566928" y="4343400"/>
            <a:ext cx="11055096" cy="137160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MMLU Finance ships no knowledge bank of its own, so it is a fair test for an external glossary.</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Five instruction-tuned models, 7B to a frontier closed model, four families, so a capability-dependent effect is separable from a universal one.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txBody>
          <a:bodyPr/>
          <a:p/>
        </p:txBody>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Human Evaluation</a:t>
            </a:r>
            <a:endParaRPr lang="en-US" sz="2200" dirty="0"/>
          </a:p>
        </p:txBody>
      </p:sp>
      <p:sp>
        <p:nvSpPr>
          <p:cNvPr id="4" name="Shape 2"/>
          <p:cNvSpPr/>
          <p:nvPr/>
        </p:nvSpPr>
        <p:spPr>
          <a:xfrm>
            <a:off x="0" y="713232"/>
            <a:ext cx="12188952" cy="41148"/>
          </a:xfrm>
          <a:prstGeom prst="rect">
            <a:avLst/>
          </a:prstGeom>
          <a:solidFill>
            <a:srgbClr val="D3D8D8"/>
          </a:solidFill>
          <a:ln>
            <a:noFill/>
          </a:ln>
        </p:spPr>
        <p:txBody>
          <a:bodyPr/>
          <a:p/>
        </p:txBody>
      </p:sp>
      <p:sp>
        <p:nvSpPr>
          <p:cNvPr id="5" name="Shape 3"/>
          <p:cNvSpPr/>
          <p:nvPr/>
        </p:nvSpPr>
        <p:spPr>
          <a:xfrm>
            <a:off x="0" y="713232"/>
            <a:ext cx="6771640" cy="41148"/>
          </a:xfrm>
          <a:prstGeom prst="rect">
            <a:avLst/>
          </a:prstGeom>
          <a:solidFill>
            <a:srgbClr val="EB811B"/>
          </a:solidFill>
          <a:ln>
            <a:noFill/>
          </a:ln>
        </p:spPr>
        <p:txBody>
          <a:bodyPr/>
          <a:p/>
        </p:txBody>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16</a:t>
            </a:r>
            <a:endParaRPr lang="en-US" sz="1050" dirty="0"/>
          </a:p>
        </p:txBody>
      </p:sp>
      <p:sp>
        <p:nvSpPr>
          <p:cNvPr id="7" name="Shape 5"/>
          <p:cNvSpPr/>
          <p:nvPr/>
        </p:nvSpPr>
        <p:spPr>
          <a:xfrm>
            <a:off x="1417320" y="1170432"/>
            <a:ext cx="9372600" cy="20117"/>
          </a:xfrm>
          <a:prstGeom prst="rect">
            <a:avLst/>
          </a:prstGeom>
          <a:solidFill>
            <a:srgbClr val="23373B"/>
          </a:solidFill>
          <a:ln>
            <a:noFill/>
          </a:ln>
        </p:spPr>
        <p:txBody>
          <a:bodyPr/>
          <a:p/>
        </p:txBody>
      </p:sp>
      <p:sp>
        <p:nvSpPr>
          <p:cNvPr id="8" name="Text 6"/>
          <p:cNvSpPr/>
          <p:nvPr/>
        </p:nvSpPr>
        <p:spPr>
          <a:xfrm>
            <a:off x="1508760" y="1188720"/>
            <a:ext cx="2743200" cy="420624"/>
          </a:xfrm>
          <a:prstGeom prst="rect">
            <a:avLst/>
          </a:prstGeom>
          <a:noFill/>
        </p:spPr>
        <p:txBody>
          <a:bodyPr wrap="square" lIns="0" tIns="0" rIns="0" bIns="0" rtlCol="0" anchor="ctr">
            <a:normAutofit/>
          </a:bodyPr>
          <a:lstStyle/>
          <a:p>
            <a:pPr marL="0" indent="0">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Criterion</a:t>
            </a:r>
            <a:endParaRPr lang="en-US" sz="1600" dirty="0"/>
          </a:p>
        </p:txBody>
      </p:sp>
      <p:sp>
        <p:nvSpPr>
          <p:cNvPr id="9" name="Text 7"/>
          <p:cNvSpPr/>
          <p:nvPr/>
        </p:nvSpPr>
        <p:spPr>
          <a:xfrm>
            <a:off x="4343400" y="1188720"/>
            <a:ext cx="6355080" cy="420624"/>
          </a:xfrm>
          <a:prstGeom prst="rect">
            <a:avLst/>
          </a:prstGeom>
          <a:noFill/>
        </p:spPr>
        <p:txBody>
          <a:bodyPr wrap="square" lIns="0" tIns="0" rIns="0" bIns="0" rtlCol="0" anchor="ctr">
            <a:normAutofit/>
          </a:bodyPr>
          <a:lstStyle/>
          <a:p>
            <a:pPr marL="0" indent="0">
              <a:lnSpc>
                <a:spcPct val="112000"/>
              </a:lnSpc>
              <a:buNone/>
            </a:pPr>
            <a:r>
              <a:rPr lang="en-US" sz="1600" b="1" dirty="0">
                <a:solidFill>
                  <a:srgbClr val="000000"/>
                </a:solidFill>
                <a:latin typeface="Times New Roman" panose="02020503050405090304" pitchFamily="34" charset="0"/>
                <a:ea typeface="Times New Roman" panose="02020503050405090304" pitchFamily="34" charset="-122"/>
                <a:cs typeface="Times New Roman" panose="02020503050405090304" pitchFamily="34" charset="-120"/>
              </a:rPr>
              <a:t>A (question, term) pair is kept only if</a:t>
            </a:r>
            <a:endParaRPr lang="en-US" sz="1600" dirty="0"/>
          </a:p>
        </p:txBody>
      </p:sp>
      <p:sp>
        <p:nvSpPr>
          <p:cNvPr id="10" name="Shape 8"/>
          <p:cNvSpPr/>
          <p:nvPr/>
        </p:nvSpPr>
        <p:spPr>
          <a:xfrm>
            <a:off x="1417320" y="1600200"/>
            <a:ext cx="9372600" cy="12802"/>
          </a:xfrm>
          <a:prstGeom prst="rect">
            <a:avLst/>
          </a:prstGeom>
          <a:solidFill>
            <a:srgbClr val="6E7E83"/>
          </a:solidFill>
          <a:ln>
            <a:noFill/>
          </a:ln>
        </p:spPr>
        <p:txBody>
          <a:bodyPr/>
          <a:p/>
        </p:txBody>
      </p:sp>
      <p:sp>
        <p:nvSpPr>
          <p:cNvPr id="11" name="Text 9"/>
          <p:cNvSpPr/>
          <p:nvPr/>
        </p:nvSpPr>
        <p:spPr>
          <a:xfrm>
            <a:off x="1508760" y="1609344"/>
            <a:ext cx="2743200" cy="713232"/>
          </a:xfrm>
          <a:prstGeom prst="rect">
            <a:avLst/>
          </a:prstGeom>
          <a:noFill/>
        </p:spPr>
        <p:txBody>
          <a:bodyPr wrap="square" lIns="0" tIns="0" rIns="0" bIns="0" rtlCol="0" anchor="ctr">
            <a:normAutofit/>
          </a:bodyPr>
          <a:lstStyle/>
          <a:p>
            <a:pPr marL="0" indent="0">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Definitional support</a:t>
            </a:r>
            <a:endParaRPr lang="en-US" sz="1600" dirty="0"/>
          </a:p>
        </p:txBody>
      </p:sp>
      <p:sp>
        <p:nvSpPr>
          <p:cNvPr id="12" name="Text 10"/>
          <p:cNvSpPr/>
          <p:nvPr/>
        </p:nvSpPr>
        <p:spPr>
          <a:xfrm>
            <a:off x="4343400" y="1609344"/>
            <a:ext cx="6355080" cy="713232"/>
          </a:xfrm>
          <a:prstGeom prst="rect">
            <a:avLst/>
          </a:prstGeom>
          <a:noFill/>
        </p:spPr>
        <p:txBody>
          <a:bodyPr wrap="square" lIns="0" tIns="0" rIns="0" bIns="0" rtlCol="0" anchor="ctr">
            <a:normAutofit/>
          </a:bodyPr>
          <a:lstStyle/>
          <a:p>
            <a:pPr marL="0" indent="0">
              <a:lnSpc>
                <a:spcPct val="112000"/>
              </a:lnSpc>
              <a:buNone/>
            </a:pPr>
            <a:r>
              <a:rPr lang="en-US" sz="1600" dirty="0">
                <a:solidFill>
                  <a:srgbClr val="000000"/>
                </a:solidFill>
                <a:latin typeface="Times New Roman" panose="02020503050405090304" pitchFamily="34" charset="0"/>
                <a:ea typeface="Times New Roman" panose="02020503050405090304" pitchFamily="34" charset="-122"/>
                <a:cs typeface="Times New Roman" panose="02020503050405090304" pitchFamily="34" charset="-120"/>
              </a:rPr>
              <a:t>The term’s Investopedia definition directly supports the correct answer.</a:t>
            </a:r>
            <a:endParaRPr lang="en-US" sz="1600" dirty="0"/>
          </a:p>
        </p:txBody>
      </p:sp>
      <p:sp>
        <p:nvSpPr>
          <p:cNvPr id="13" name="Shape 11"/>
          <p:cNvSpPr/>
          <p:nvPr/>
        </p:nvSpPr>
        <p:spPr>
          <a:xfrm>
            <a:off x="1417320" y="2315261"/>
            <a:ext cx="9372600" cy="7315"/>
          </a:xfrm>
          <a:prstGeom prst="rect">
            <a:avLst/>
          </a:prstGeom>
          <a:solidFill>
            <a:srgbClr val="D3D8D8"/>
          </a:solidFill>
          <a:ln>
            <a:noFill/>
          </a:ln>
        </p:spPr>
        <p:txBody>
          <a:bodyPr/>
          <a:p/>
        </p:txBody>
      </p:sp>
      <p:sp>
        <p:nvSpPr>
          <p:cNvPr id="14" name="Text 12"/>
          <p:cNvSpPr/>
          <p:nvPr/>
        </p:nvSpPr>
        <p:spPr>
          <a:xfrm>
            <a:off x="1508760" y="2322576"/>
            <a:ext cx="2743200" cy="713232"/>
          </a:xfrm>
          <a:prstGeom prst="rect">
            <a:avLst/>
          </a:prstGeom>
          <a:noFill/>
        </p:spPr>
        <p:txBody>
          <a:bodyPr wrap="square" lIns="0" tIns="0" rIns="0" bIns="0" rtlCol="0" anchor="ctr">
            <a:normAutofit/>
          </a:bodyPr>
          <a:lstStyle/>
          <a:p>
            <a:pPr marL="0" indent="0">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Necessity</a:t>
            </a:r>
            <a:endParaRPr lang="en-US" sz="1600" dirty="0"/>
          </a:p>
        </p:txBody>
      </p:sp>
      <p:sp>
        <p:nvSpPr>
          <p:cNvPr id="15" name="Text 13"/>
          <p:cNvSpPr/>
          <p:nvPr/>
        </p:nvSpPr>
        <p:spPr>
          <a:xfrm>
            <a:off x="4343400" y="2322576"/>
            <a:ext cx="6355080" cy="713232"/>
          </a:xfrm>
          <a:prstGeom prst="rect">
            <a:avLst/>
          </a:prstGeom>
          <a:noFill/>
        </p:spPr>
        <p:txBody>
          <a:bodyPr wrap="square" lIns="0" tIns="0" rIns="0" bIns="0" rtlCol="0" anchor="ctr">
            <a:normAutofit/>
          </a:bodyPr>
          <a:lstStyle/>
          <a:p>
            <a:pPr marL="0" indent="0">
              <a:lnSpc>
                <a:spcPct val="112000"/>
              </a:lnSpc>
              <a:buNone/>
            </a:pPr>
            <a:r>
              <a:rPr lang="en-US" sz="1600" dirty="0">
                <a:solidFill>
                  <a:srgbClr val="000000"/>
                </a:solidFill>
                <a:latin typeface="Times New Roman" panose="02020503050405090304" pitchFamily="34" charset="0"/>
                <a:ea typeface="Times New Roman" panose="02020503050405090304" pitchFamily="34" charset="-122"/>
                <a:cs typeface="Times New Roman" panose="02020503050405090304" pitchFamily="34" charset="-120"/>
              </a:rPr>
              <a:t>Removing the term would make the answer genuinely ambiguous to a domain-trained reader.</a:t>
            </a:r>
            <a:endParaRPr lang="en-US" sz="1600" dirty="0"/>
          </a:p>
        </p:txBody>
      </p:sp>
      <p:sp>
        <p:nvSpPr>
          <p:cNvPr id="16" name="Shape 14"/>
          <p:cNvSpPr/>
          <p:nvPr/>
        </p:nvSpPr>
        <p:spPr>
          <a:xfrm>
            <a:off x="1417320" y="3028493"/>
            <a:ext cx="9372600" cy="7315"/>
          </a:xfrm>
          <a:prstGeom prst="rect">
            <a:avLst/>
          </a:prstGeom>
          <a:solidFill>
            <a:srgbClr val="D3D8D8"/>
          </a:solidFill>
          <a:ln>
            <a:noFill/>
          </a:ln>
        </p:spPr>
        <p:txBody>
          <a:bodyPr/>
          <a:p/>
        </p:txBody>
      </p:sp>
      <p:sp>
        <p:nvSpPr>
          <p:cNvPr id="17" name="Text 15"/>
          <p:cNvSpPr/>
          <p:nvPr/>
        </p:nvSpPr>
        <p:spPr>
          <a:xfrm>
            <a:off x="1508760" y="3035808"/>
            <a:ext cx="2743200" cy="713232"/>
          </a:xfrm>
          <a:prstGeom prst="rect">
            <a:avLst/>
          </a:prstGeom>
          <a:noFill/>
        </p:spPr>
        <p:txBody>
          <a:bodyPr wrap="square" lIns="0" tIns="0" rIns="0" bIns="0" rtlCol="0" anchor="ctr">
            <a:normAutofit/>
          </a:bodyPr>
          <a:lstStyle/>
          <a:p>
            <a:pPr marL="0" indent="0">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Semantic role</a:t>
            </a:r>
            <a:endParaRPr lang="en-US" sz="1600" dirty="0"/>
          </a:p>
        </p:txBody>
      </p:sp>
      <p:sp>
        <p:nvSpPr>
          <p:cNvPr id="18" name="Text 16"/>
          <p:cNvSpPr/>
          <p:nvPr/>
        </p:nvSpPr>
        <p:spPr>
          <a:xfrm>
            <a:off x="4343400" y="3035808"/>
            <a:ext cx="6355080" cy="713232"/>
          </a:xfrm>
          <a:prstGeom prst="rect">
            <a:avLst/>
          </a:prstGeom>
          <a:noFill/>
        </p:spPr>
        <p:txBody>
          <a:bodyPr wrap="square" lIns="0" tIns="0" rIns="0" bIns="0" rtlCol="0" anchor="ctr">
            <a:normAutofit/>
          </a:bodyPr>
          <a:lstStyle/>
          <a:p>
            <a:pPr marL="0" indent="0">
              <a:lnSpc>
                <a:spcPct val="112000"/>
              </a:lnSpc>
              <a:buNone/>
            </a:pPr>
            <a:r>
              <a:rPr lang="en-US" sz="1600" dirty="0">
                <a:solidFill>
                  <a:srgbClr val="000000"/>
                </a:solidFill>
                <a:latin typeface="Times New Roman" panose="02020503050405090304" pitchFamily="34" charset="0"/>
                <a:ea typeface="Times New Roman" panose="02020503050405090304" pitchFamily="34" charset="-122"/>
                <a:cs typeface="Times New Roman" panose="02020503050405090304" pitchFamily="34" charset="-120"/>
              </a:rPr>
              <a:t>The term contributes to the answer’s semantic construction, not just the question’s surface form.</a:t>
            </a:r>
            <a:endParaRPr lang="en-US" sz="1600" dirty="0"/>
          </a:p>
        </p:txBody>
      </p:sp>
      <p:sp>
        <p:nvSpPr>
          <p:cNvPr id="19" name="Shape 17"/>
          <p:cNvSpPr/>
          <p:nvPr/>
        </p:nvSpPr>
        <p:spPr>
          <a:xfrm>
            <a:off x="1417320" y="3749040"/>
            <a:ext cx="9372600" cy="20117"/>
          </a:xfrm>
          <a:prstGeom prst="rect">
            <a:avLst/>
          </a:prstGeom>
          <a:solidFill>
            <a:srgbClr val="23373B"/>
          </a:solidFill>
          <a:ln>
            <a:noFill/>
          </a:ln>
        </p:spPr>
        <p:txBody>
          <a:bodyPr/>
          <a:p/>
        </p:txBody>
      </p:sp>
      <p:sp>
        <p:nvSpPr>
          <p:cNvPr id="20" name="Text 18"/>
          <p:cNvSpPr/>
          <p:nvPr/>
        </p:nvSpPr>
        <p:spPr>
          <a:xfrm>
            <a:off x="1417320" y="3858768"/>
            <a:ext cx="9372600" cy="310896"/>
          </a:xfrm>
          <a:prstGeom prst="rect">
            <a:avLst/>
          </a:prstGeom>
          <a:noFill/>
        </p:spPr>
        <p:txBody>
          <a:bodyPr wrap="square" lIns="0" tIns="0" rIns="0" bIns="0" rtlCol="0" anchor="ctr"/>
          <a:lstStyle/>
          <a:p>
            <a:pPr marL="0" indent="0" algn="ctr">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Table 1.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Retention rubric for the per-question term annotation.</a:t>
            </a:r>
            <a:endParaRPr lang="en-US" sz="1400" dirty="0"/>
          </a:p>
        </p:txBody>
      </p:sp>
      <p:sp>
        <p:nvSpPr>
          <p:cNvPr id="21" name="Text 19"/>
          <p:cNvSpPr/>
          <p:nvPr/>
        </p:nvSpPr>
        <p:spPr>
          <a:xfrm>
            <a:off x="566928" y="4303395"/>
            <a:ext cx="11055096" cy="23774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first author (undergraduate training in finance) reviewed all 2,233 (question, term) pairs against the rubric: 84.7% kept, 15.3% removed as misalignments, 20 load-bearing pairs added, leaving 995 term-bearing questions and 129 zero-term controls.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Three audits from outside the protocol: a lab member blind-reviewed 200 pairs (Jaccard 0.74); a blind re-scoring of 200 judge outputs agreed within one point 99.0% of the time (weighted κ = 0.88); an independent economics PhD re-annotated 50 questions from scratch, recovering 4 missed pairs.</a:t>
            </a:r>
            <a:endParaRPr lang="en-US" sz="1800" dirty="0"/>
          </a:p>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annotation is offline apparatus. It never enters the inference pipeline.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Experiments</a:t>
            </a:r>
            <a:endParaRPr lang="en-US" sz="3300" dirty="0"/>
          </a:p>
        </p:txBody>
      </p:sp>
      <p:sp>
        <p:nvSpPr>
          <p:cNvPr id="3" name="Shape 1"/>
          <p:cNvSpPr/>
          <p:nvPr/>
        </p:nvSpPr>
        <p:spPr>
          <a:xfrm>
            <a:off x="1325880" y="3493008"/>
            <a:ext cx="4660053" cy="0"/>
          </a:xfrm>
          <a:prstGeom prst="line">
            <a:avLst/>
          </a:prstGeom>
          <a:noFill/>
          <a:ln w="22225">
            <a:solidFill>
              <a:srgbClr val="EB811B"/>
            </a:solidFill>
            <a:prstDash val="solid"/>
          </a:ln>
        </p:spPr>
      </p:sp>
      <p:sp>
        <p:nvSpPr>
          <p:cNvPr id="4" name="Shape 2"/>
          <p:cNvSpPr/>
          <p:nvPr/>
        </p:nvSpPr>
        <p:spPr>
          <a:xfrm>
            <a:off x="5985933" y="3493008"/>
            <a:ext cx="3203787"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txBody>
          <a:bodyPr/>
          <a:p/>
        </p:txBody>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Definition Generation and the 2023 Baseline</a:t>
            </a:r>
            <a:endParaRPr lang="en-US" sz="2200" dirty="0"/>
          </a:p>
        </p:txBody>
      </p:sp>
      <p:sp>
        <p:nvSpPr>
          <p:cNvPr id="4" name="Shape 2"/>
          <p:cNvSpPr/>
          <p:nvPr/>
        </p:nvSpPr>
        <p:spPr>
          <a:xfrm>
            <a:off x="0" y="713232"/>
            <a:ext cx="12188952" cy="41148"/>
          </a:xfrm>
          <a:prstGeom prst="rect">
            <a:avLst/>
          </a:prstGeom>
          <a:solidFill>
            <a:srgbClr val="D3D8D8"/>
          </a:solidFill>
          <a:ln>
            <a:noFill/>
          </a:ln>
        </p:spPr>
        <p:txBody>
          <a:bodyPr/>
          <a:p/>
        </p:txBody>
      </p:sp>
      <p:sp>
        <p:nvSpPr>
          <p:cNvPr id="5" name="Shape 3"/>
          <p:cNvSpPr/>
          <p:nvPr/>
        </p:nvSpPr>
        <p:spPr>
          <a:xfrm>
            <a:off x="0" y="713232"/>
            <a:ext cx="7565556" cy="41148"/>
          </a:xfrm>
          <a:prstGeom prst="rect">
            <a:avLst/>
          </a:prstGeom>
          <a:solidFill>
            <a:srgbClr val="EB811B"/>
          </a:solidFill>
          <a:ln>
            <a:noFill/>
          </a:ln>
        </p:spPr>
        <p:txBody>
          <a:bodyPr/>
          <a:p/>
        </p:txBody>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18</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Each model writes a free-form definition for every glossary term, scored by surface METEOR and by a 0–3 LLM judge.</a:t>
            </a:r>
            <a:endParaRPr lang="en-US" sz="2100" dirty="0"/>
          </a:p>
        </p:txBody>
      </p:sp>
      <p:graphicFrame>
        <p:nvGraphicFramePr>
          <p:cNvPr id="18" name="Table 0"/>
          <p:cNvGraphicFramePr>
            <a:graphicFrameLocks noGrp="1"/>
          </p:cNvGraphicFramePr>
          <p:nvPr/>
        </p:nvGraphicFramePr>
        <p:xfrm>
          <a:off x="2162556" y="2606040"/>
          <a:ext cx="7863840" cy="2304288"/>
        </p:xfrm>
        <a:graphic>
          <a:graphicData uri="http://schemas.openxmlformats.org/drawingml/2006/table">
            <a:tbl>
              <a:tblPr/>
              <a:tblGrid>
                <a:gridCol w="3017520"/>
                <a:gridCol w="1600200"/>
                <a:gridCol w="1600200"/>
                <a:gridCol w="1645920"/>
              </a:tblGrid>
              <a:tr h="329184">
                <a:tc>
                  <a:txBody>
                    <a:bodyPr/>
                    <a:lstStyle/>
                    <a:p>
                      <a:pPr marL="0" indent="0" algn="l">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Model</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Params</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METEOR</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Δ vs GPT-3.5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9184">
                <a:tc gridSpan="4">
                  <a:txBody>
                    <a:bodyPr/>
                    <a:lstStyle/>
                    <a:p>
                      <a:pPr marL="0" indent="0" algn="l">
                        <a:buNone/>
                      </a:pPr>
                      <a:r>
                        <a:rPr lang="en-US" sz="1600" i="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Jhirad et al. (2023)</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hMerge="1">
                  <a:txBody>
                    <a:bodyPr/>
                    <a:p/>
                  </a:txBody>
                  <a:tcPr/>
                </a:tc>
                <a:tc hMerge="1">
                  <a:txBody>
                    <a:bodyPr/>
                    <a:p/>
                  </a:txBody>
                  <a:tcPr/>
                </a:tc>
                <a:tc hMerge="1">
                  <a:txBody>
                    <a:bodyPr/>
                    <a:p/>
                  </a:txBody>
                  <a:tcPr/>
                </a:tc>
              </a:tr>
              <a:tr h="329184">
                <a:tc>
                  <a:txBody>
                    <a:bodyPr/>
                    <a:lstStyle/>
                    <a:p>
                      <a:pPr marL="0" indent="0" algn="l">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FLAN-UL2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20B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27.71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−10.79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9184">
                <a:tc>
                  <a:txBody>
                    <a:bodyPr/>
                    <a:lstStyle/>
                    <a:p>
                      <a:pPr marL="0" indent="0" algn="l">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GPT-3.5-Turbo</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175B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38.50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9184">
                <a:tc gridSpan="4">
                  <a:txBody>
                    <a:bodyPr/>
                    <a:lstStyle/>
                    <a:p>
                      <a:pPr marL="0" indent="0" algn="l">
                        <a:buNone/>
                      </a:pP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This work</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hMerge="1">
                  <a:txBody>
                    <a:bodyPr/>
                    <a:p/>
                  </a:txBody>
                  <a:tcPr/>
                </a:tc>
                <a:tc hMerge="1">
                  <a:txBody>
                    <a:bodyPr/>
                    <a:p/>
                  </a:txBody>
                  <a:tcPr/>
                </a:tc>
                <a:tc hMerge="1">
                  <a:txBody>
                    <a:bodyPr/>
                    <a:p/>
                  </a:txBody>
                  <a:tcPr/>
                </a:tc>
              </a:tr>
              <a:tr h="329184">
                <a:tc>
                  <a:txBody>
                    <a:bodyPr/>
                    <a:lstStyle/>
                    <a:p>
                      <a:pPr marL="0" indent="0" algn="l">
                        <a:buNone/>
                      </a:pPr>
                      <a:r>
                        <a:rPr lang="en-US" sz="1600" dirty="0" b="1">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Qwen-2.5-7B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1">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34.71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−3.79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9184">
                <a:tc>
                  <a:txBody>
                    <a:bodyPr/>
                    <a:lstStyle/>
                    <a:p>
                      <a:pPr marL="0" indent="0" algn="l">
                        <a:buNone/>
                      </a:pPr>
                      <a:r>
                        <a:rPr lang="en-US" sz="16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GPT-5.2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27.41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b="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−11.09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9" name="Shape 6"/>
          <p:cNvSpPr/>
          <p:nvPr/>
        </p:nvSpPr>
        <p:spPr>
          <a:xfrm>
            <a:off x="2162556" y="2592324"/>
            <a:ext cx="7863840" cy="20117"/>
          </a:xfrm>
          <a:prstGeom prst="rect">
            <a:avLst/>
          </a:prstGeom>
          <a:solidFill>
            <a:srgbClr val="23373B"/>
          </a:solidFill>
          <a:ln>
            <a:noFill/>
          </a:ln>
        </p:spPr>
        <p:txBody>
          <a:bodyPr/>
          <a:p/>
        </p:txBody>
      </p:sp>
      <p:sp>
        <p:nvSpPr>
          <p:cNvPr id="10" name="Shape 7"/>
          <p:cNvSpPr/>
          <p:nvPr/>
        </p:nvSpPr>
        <p:spPr>
          <a:xfrm>
            <a:off x="2162556" y="2926080"/>
            <a:ext cx="7863840" cy="10973"/>
          </a:xfrm>
          <a:prstGeom prst="rect">
            <a:avLst/>
          </a:prstGeom>
          <a:solidFill>
            <a:srgbClr val="6E7E83"/>
          </a:solidFill>
          <a:ln>
            <a:noFill/>
          </a:ln>
        </p:spPr>
        <p:txBody>
          <a:bodyPr/>
          <a:p/>
        </p:txBody>
      </p:sp>
      <p:sp>
        <p:nvSpPr>
          <p:cNvPr id="11" name="Shape 8"/>
          <p:cNvSpPr/>
          <p:nvPr/>
        </p:nvSpPr>
        <p:spPr>
          <a:xfrm>
            <a:off x="2162556" y="4910328"/>
            <a:ext cx="7863840" cy="20117"/>
          </a:xfrm>
          <a:prstGeom prst="rect">
            <a:avLst/>
          </a:prstGeom>
          <a:solidFill>
            <a:srgbClr val="23373B"/>
          </a:solidFill>
          <a:ln>
            <a:noFill/>
          </a:ln>
        </p:spPr>
        <p:txBody>
          <a:bodyPr/>
          <a:p/>
        </p:txBody>
      </p:sp>
      <p:sp>
        <p:nvSpPr>
          <p:cNvPr id="12" name="Text 9"/>
          <p:cNvSpPr/>
          <p:nvPr/>
        </p:nvSpPr>
        <p:spPr>
          <a:xfrm>
            <a:off x="566928" y="5029200"/>
            <a:ext cx="11055096" cy="109728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capability has moved down scale: today's 7B scores above the 20B model of 2023 and within four points of the 175B one.</a:t>
            </a:r>
            <a:endParaRPr lang="en-US" sz="1800" dirty="0"/>
          </a:p>
        </p:txBody>
      </p:sp>
      <p:sp>
        <p:nvSpPr>
          <p:cNvPr id="19" name="Rectangle 18"/>
          <p:cNvSpPr/>
          <p:nvPr/>
        </p:nvSpPr>
        <p:spPr>
          <a:xfrm>
            <a:off x="2162556" y="3922776"/>
            <a:ext cx="7863840" cy="10972"/>
          </a:xfrm>
          <a:prstGeom prst="rect">
            <a:avLst/>
          </a:prstGeom>
          <a:solidFill>
            <a:srgbClr val="6E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Reference Metrics vs. the LLM Judge</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8125968"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19</a:t>
            </a:r>
            <a:endParaRPr lang="en-US" sz="1050" dirty="0"/>
          </a:p>
        </p:txBody>
      </p:sp>
      <p:pic>
        <p:nvPicPr>
          <p:cNvPr id="7" name="Image 0" descr="/Users/ouyang/2026/emnlp2026/talk/figures/new1_defmodel_slopegraph.png"/>
          <p:cNvPicPr>
            <a:picLocks noChangeAspect="1"/>
          </p:cNvPicPr>
          <p:nvPr/>
        </p:nvPicPr>
        <p:blipFill>
          <a:blip r:embed="rId1"/>
          <a:stretch>
            <a:fillRect/>
          </a:stretch>
        </p:blipFill>
        <p:spPr>
          <a:xfrm>
            <a:off x="3794760" y="903605"/>
            <a:ext cx="4572000" cy="3657600"/>
          </a:xfrm>
          <a:prstGeom prst="rect">
            <a:avLst/>
          </a:prstGeom>
        </p:spPr>
      </p:pic>
      <p:sp>
        <p:nvSpPr>
          <p:cNvPr id="8" name="Text 5"/>
          <p:cNvSpPr/>
          <p:nvPr/>
        </p:nvSpPr>
        <p:spPr>
          <a:xfrm>
            <a:off x="3794760" y="4652645"/>
            <a:ext cx="4953635" cy="438785"/>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Figure 2.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Reference-metric vs judge rankings of definition quality.</a:t>
            </a:r>
            <a:endParaRPr lang="en-US" sz="1400" dirty="0"/>
          </a:p>
        </p:txBody>
      </p:sp>
      <p:sp>
        <p:nvSpPr>
          <p:cNvPr id="9" name="Text 6"/>
          <p:cNvSpPr/>
          <p:nvPr/>
        </p:nvSpPr>
        <p:spPr>
          <a:xfrm>
            <a:off x="566928" y="5091557"/>
            <a:ext cx="11055096" cy="118872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GPT-5.2 is last on every reference metric, first under the judge, and strongest downstream. METEOR penalises paraphrastic definitions.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inversion repeats on a second corpus, so it is a format effect, not a knowledge gap. Both measurements are carried through every later analysis.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1280160" y="2743200"/>
            <a:ext cx="8229600" cy="685800"/>
          </a:xfrm>
          <a:prstGeom prst="rect">
            <a:avLst/>
          </a:prstGeom>
          <a:noFill/>
        </p:spPr>
        <p:txBody>
          <a:bodyPr wrap="square" lIns="0" tIns="0" rIns="0" bIns="0" rtlCol="0" anchor="ctr"/>
          <a:lstStyle/>
          <a:p>
            <a:pPr marL="0" indent="0">
              <a:buNone/>
            </a:pPr>
            <a:r>
              <a:rPr lang="en-US" sz="3300" b="1" dirty="0">
                <a:solidFill>
                  <a:srgbClr val="23373B"/>
                </a:solidFill>
                <a:latin typeface="Georgia" panose="02040502050405090303" pitchFamily="34" charset="0"/>
                <a:ea typeface="Georgia" panose="02040502050405090303" pitchFamily="34" charset="-122"/>
                <a:cs typeface="Georgia" panose="02040502050405090303" pitchFamily="34" charset="-120"/>
              </a:rPr>
              <a:t>Results</a:t>
            </a:r>
            <a:endParaRPr lang="en-US" sz="3300" dirty="0"/>
          </a:p>
        </p:txBody>
      </p:sp>
      <p:sp>
        <p:nvSpPr>
          <p:cNvPr id="3" name="Shape 1"/>
          <p:cNvSpPr/>
          <p:nvPr/>
        </p:nvSpPr>
        <p:spPr>
          <a:xfrm>
            <a:off x="1325880" y="3493008"/>
            <a:ext cx="5533813" cy="0"/>
          </a:xfrm>
          <a:prstGeom prst="line">
            <a:avLst/>
          </a:prstGeom>
          <a:noFill/>
          <a:ln w="22225">
            <a:solidFill>
              <a:srgbClr val="EB811B"/>
            </a:solidFill>
            <a:prstDash val="solid"/>
          </a:ln>
        </p:spPr>
      </p:sp>
      <p:sp>
        <p:nvSpPr>
          <p:cNvPr id="4" name="Shape 2"/>
          <p:cNvSpPr/>
          <p:nvPr/>
        </p:nvSpPr>
        <p:spPr>
          <a:xfrm>
            <a:off x="6859693" y="3493008"/>
            <a:ext cx="2330027" cy="0"/>
          </a:xfrm>
          <a:prstGeom prst="line">
            <a:avLst/>
          </a:prstGeom>
          <a:noFill/>
          <a:ln w="12700">
            <a:solidFill>
              <a:srgbClr val="D3D8D8"/>
            </a:solidFill>
            <a:prstDash val="solid"/>
          </a:ln>
        </p:spPr>
      </p:sp>
      <p:sp>
        <p:nvSpPr>
          <p:cNvPr id="5" name="Text 3"/>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Average Retrieval Gains on the Panel</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9028853"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21</a:t>
            </a:r>
            <a:endParaRPr lang="en-US" sz="1050" dirty="0"/>
          </a:p>
        </p:txBody>
      </p:sp>
      <p:graphicFrame>
        <p:nvGraphicFramePr>
          <p:cNvPr id="21" name="Table 0"/>
          <p:cNvGraphicFramePr>
            <a:graphicFrameLocks noGrp="1"/>
          </p:cNvGraphicFramePr>
          <p:nvPr/>
        </p:nvGraphicFramePr>
        <p:xfrm>
          <a:off x="685800" y="1143000"/>
          <a:ext cx="5852160" cy="4219956"/>
        </p:xfrm>
        <a:graphic>
          <a:graphicData uri="http://schemas.openxmlformats.org/drawingml/2006/table">
            <a:tbl>
              <a:tblPr/>
              <a:tblGrid>
                <a:gridCol w="2103120"/>
                <a:gridCol w="1280160"/>
                <a:gridCol w="1280160"/>
                <a:gridCol w="1188720"/>
              </a:tblGrid>
              <a:tr h="324612">
                <a:tc>
                  <a:txBody>
                    <a:bodyPr/>
                    <a:lstStyle/>
                    <a:p>
                      <a:pPr marL="0" indent="0" algn="l">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Model</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Base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+RAG</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Δ</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gridSpan="4">
                  <a:txBody>
                    <a:bodyPr/>
                    <a:lstStyle/>
                    <a:p>
                      <a:pPr marL="0" indent="0" algn="l">
                        <a:buNone/>
                      </a:pP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MMLU Finance (n = 1,124)</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hMerge="1">
                  <a:tcPr/>
                </a:tc>
                <a:tc hMerge="1">
                  <a:tcPr/>
                </a:tc>
                <a:tc hMerge="1">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Qwen-2.5-7B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60.8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64.1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+3.3</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Qwen-2.5-14B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68.2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68.1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Llama-3.1-8B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52.1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57.6</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+5.4</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Mistral-S-24B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72.3</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72.5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GPT-5.2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87.8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88.1</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+0.3</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gridSpan="4">
                  <a:txBody>
                    <a:bodyPr/>
                    <a:lstStyle/>
                    <a:p>
                      <a:pPr marL="0" indent="0" algn="l">
                        <a:buNone/>
                      </a:pP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XFinBench TU (n = 1,790)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hMerge="1">
                  <a:tcPr/>
                </a:tc>
                <a:tc hMerge="1">
                  <a:tcPr/>
                </a:tc>
                <a:tc hMerge="1">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Qwen-2.5-7B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70.5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75.3</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+4.8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Qwen-2.5-14B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77.7</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76.8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Llama-3.1-8B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61.5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63.5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+2.0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Mistral-S-24B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78.9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78.9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24612">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GPT-5.2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87.6</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88.5</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8" name="Shape 5"/>
          <p:cNvSpPr/>
          <p:nvPr/>
        </p:nvSpPr>
        <p:spPr>
          <a:xfrm>
            <a:off x="685800" y="1129284"/>
            <a:ext cx="5852160" cy="20117"/>
          </a:xfrm>
          <a:prstGeom prst="rect">
            <a:avLst/>
          </a:prstGeom>
          <a:solidFill>
            <a:srgbClr val="23373B"/>
          </a:solidFill>
          <a:ln>
            <a:noFill/>
          </a:ln>
        </p:spPr>
      </p:sp>
      <p:sp>
        <p:nvSpPr>
          <p:cNvPr id="9" name="Shape 6"/>
          <p:cNvSpPr/>
          <p:nvPr/>
        </p:nvSpPr>
        <p:spPr>
          <a:xfrm>
            <a:off x="685800" y="1458468"/>
            <a:ext cx="5852160" cy="10973"/>
          </a:xfrm>
          <a:prstGeom prst="rect">
            <a:avLst/>
          </a:prstGeom>
          <a:solidFill>
            <a:srgbClr val="6E7E83"/>
          </a:solidFill>
          <a:ln>
            <a:noFill/>
          </a:ln>
        </p:spPr>
      </p:sp>
      <p:sp>
        <p:nvSpPr>
          <p:cNvPr id="10" name="Shape 7"/>
          <p:cNvSpPr/>
          <p:nvPr/>
        </p:nvSpPr>
        <p:spPr>
          <a:xfrm>
            <a:off x="685800" y="5362956"/>
            <a:ext cx="5852160" cy="20117"/>
          </a:xfrm>
          <a:prstGeom prst="rect">
            <a:avLst/>
          </a:prstGeom>
          <a:solidFill>
            <a:srgbClr val="23373B"/>
          </a:solidFill>
          <a:ln>
            <a:noFill/>
          </a:ln>
        </p:spPr>
      </p:sp>
      <p:sp>
        <p:nvSpPr>
          <p:cNvPr id="11" name="Text 8"/>
          <p:cNvSpPr/>
          <p:nvPr/>
        </p:nvSpPr>
        <p:spPr>
          <a:xfrm>
            <a:off x="685800" y="5715000"/>
            <a:ext cx="5852160" cy="457200"/>
          </a:xfrm>
          <a:prstGeom prst="rect">
            <a:avLst/>
          </a:prstGeom>
          <a:noFill/>
        </p:spPr>
        <p:txBody>
          <a:bodyPr wrap="square" lIns="0" tIns="0" rIns="0" bIns="0" rtlCol="0" anchor="ctr">
            <a:normAutofit/>
          </a:bodyPr>
          <a:lstStyle/>
          <a:p>
            <a:pPr marL="0" indent="0">
              <a:lnSpc>
                <a:spcPct val="110000"/>
              </a:lnSpc>
              <a:buNone/>
            </a:pPr>
            <a:r>
              <a:rPr lang="en-US" sz="1400" i="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Bold Δ: 95% CI excludes zero (paired bootstrap, 2,000 resamples).</a:t>
            </a:r>
            <a:endParaRPr lang="en-US" sz="1400" dirty="0"/>
          </a:p>
        </p:txBody>
      </p:sp>
      <p:pic>
        <p:nvPicPr>
          <p:cNvPr id="12" name="Image 0" descr="/Users/ouyang/2026/emnlp2026/talk/figures/fig51_net_decomp.png"/>
          <p:cNvPicPr>
            <a:picLocks noChangeAspect="1"/>
          </p:cNvPicPr>
          <p:nvPr/>
        </p:nvPicPr>
        <p:blipFill>
          <a:blip r:embed="rId1"/>
          <a:stretch>
            <a:fillRect/>
          </a:stretch>
        </p:blipFill>
        <p:spPr>
          <a:xfrm>
            <a:off x="7223760" y="1234440"/>
            <a:ext cx="4023360" cy="3333355"/>
          </a:xfrm>
          <a:prstGeom prst="rect">
            <a:avLst/>
          </a:prstGeom>
        </p:spPr>
      </p:pic>
      <p:sp>
        <p:nvSpPr>
          <p:cNvPr id="13" name="Text 9"/>
          <p:cNvSpPr/>
          <p:nvPr/>
        </p:nvSpPr>
        <p:spPr>
          <a:xfrm>
            <a:off x="6949440" y="4572000"/>
            <a:ext cx="4663440" cy="438912"/>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Figure 3.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Per-model paired-removal decomposition on both benchmarks.</a:t>
            </a:r>
            <a:endParaRPr lang="en-US" sz="1400" dirty="0"/>
          </a:p>
        </p:txBody>
      </p:sp>
      <p:sp>
        <p:nvSpPr>
          <p:cNvPr id="14" name="Text 10"/>
          <p:cNvSpPr/>
          <p:nvPr/>
        </p:nvSpPr>
        <p:spPr>
          <a:xfrm>
            <a:off x="6949440" y="5074920"/>
            <a:ext cx="4417060" cy="1463040"/>
          </a:xfrm>
          <a:prstGeom prst="rect">
            <a:avLst/>
          </a:prstGeom>
          <a:noFill/>
        </p:spPr>
        <p:txBody>
          <a:bodyPr wrap="square" lIns="0" tIns="0" rIns="0" bIns="0" rtlCol="0" anchor="t">
            <a:normAutofit/>
          </a:bodyPr>
          <a:lstStyle/>
          <a:p>
            <a:pPr marL="342900" indent="-342900" algn="just">
              <a:lnSpc>
                <a:spcPct val="120000"/>
              </a:lnSpc>
              <a:spcAft>
                <a:spcPts val="900"/>
              </a:spcAft>
              <a:buSzPct val="100000"/>
              <a:buChar char="•"/>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Replicates on two independently constructed benchmarks.</a:t>
            </a:r>
            <a:endParaRPr lang="en-US" sz="1600" dirty="0"/>
          </a:p>
          <a:p>
            <a:pPr marL="342900" indent="-342900" algn="just">
              <a:lnSpc>
                <a:spcPct val="120000"/>
              </a:lnSpc>
              <a:spcAft>
                <a:spcPts val="900"/>
              </a:spcAft>
              <a:buSzPct val="100000"/>
              <a:buChar char="•"/>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Follows neither parameter count nor model family: it is a property of the mid-capability band.</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Controls on the Source of the Gain</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9480296"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22</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A snippet could raise accuracy by carrying the answer string rather than the term’s meaning, and a frontier model could already hold the glossary. We test both.</a:t>
            </a:r>
            <a:endParaRPr lang="en-US" sz="2100" dirty="0"/>
          </a:p>
        </p:txBody>
      </p:sp>
      <p:graphicFrame>
        <p:nvGraphicFramePr>
          <p:cNvPr id="22" name="Table 0"/>
          <p:cNvGraphicFramePr>
            <a:graphicFrameLocks noGrp="1"/>
          </p:cNvGraphicFramePr>
          <p:nvPr/>
        </p:nvGraphicFramePr>
        <p:xfrm>
          <a:off x="567055" y="2571115"/>
          <a:ext cx="6021070" cy="3072130"/>
        </p:xfrm>
        <a:graphic>
          <a:graphicData uri="http://schemas.openxmlformats.org/drawingml/2006/table">
            <a:tbl>
              <a:tblPr/>
              <a:tblGrid>
                <a:gridCol w="3145155"/>
                <a:gridCol w="1438275"/>
                <a:gridCol w="1437640"/>
              </a:tblGrid>
              <a:tr h="384048">
                <a:tc>
                  <a:txBody>
                    <a:bodyPr/>
                    <a:lstStyle/>
                    <a:p>
                      <a:pPr marL="0" indent="0" algn="l">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Condition  (Qwen-2.5-7B / MMLU)</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Acc.</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vs RAG</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No RAG (baseline)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60.8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−2.9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RAG (as reported)</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63.7</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  drop answer-matching snippets</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63.7</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±0.0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  mask all term names</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61.9</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−1.8</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gridSpan="3">
                  <a:txBody>
                    <a:bodyPr/>
                    <a:lstStyle/>
                    <a:p>
                      <a:pPr marL="0" indent="0" algn="l">
                        <a:buNone/>
                      </a:pP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Invented terms  (n = 50, unmemorisable)</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hMerge="1">
                  <a:tcPr/>
                </a:tc>
                <a:tc hMerge="1">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GPT-5.2</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36.0 →</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100.0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r h="384048">
                <a:tc>
                  <a:txBody>
                    <a:bodyPr/>
                    <a:lstStyle/>
                    <a:p>
                      <a:pPr marL="0" indent="0" algn="l">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Qwen-2.5-7B</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30.0 →</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marL="0" indent="0" algn="r">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100.0</a:t>
                      </a:r>
                      <a:endParaRPr lang="en-US" sz="1600" dirty="0">
                        <a:latin typeface="Times New Roman" panose="02020503050405090304" pitchFamily="34" charset="0"/>
                        <a:ea typeface="Times New Roman" panose="02020503050405090304" pitchFamily="34" charset="0"/>
                        <a:cs typeface="Times New Roman" panose="02020503050405090304" pitchFamily="34" charset="0"/>
                      </a:endParaRPr>
                    </a:p>
                  </a:txBody>
                  <a:tcPr marL="64008" marR="64008" marT="18288" marB="18288"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9" name="Shape 6"/>
          <p:cNvSpPr/>
          <p:nvPr/>
        </p:nvSpPr>
        <p:spPr>
          <a:xfrm>
            <a:off x="566928" y="2557399"/>
            <a:ext cx="6126480" cy="20117"/>
          </a:xfrm>
          <a:prstGeom prst="rect">
            <a:avLst/>
          </a:prstGeom>
          <a:solidFill>
            <a:srgbClr val="23373B"/>
          </a:solidFill>
          <a:ln>
            <a:noFill/>
          </a:ln>
        </p:spPr>
      </p:sp>
      <p:sp>
        <p:nvSpPr>
          <p:cNvPr id="10" name="Shape 7"/>
          <p:cNvSpPr/>
          <p:nvPr/>
        </p:nvSpPr>
        <p:spPr>
          <a:xfrm>
            <a:off x="566928" y="2946019"/>
            <a:ext cx="6126480" cy="10973"/>
          </a:xfrm>
          <a:prstGeom prst="rect">
            <a:avLst/>
          </a:prstGeom>
          <a:solidFill>
            <a:srgbClr val="6E7E83"/>
          </a:solidFill>
          <a:ln>
            <a:noFill/>
          </a:ln>
        </p:spPr>
      </p:sp>
      <p:sp>
        <p:nvSpPr>
          <p:cNvPr id="11" name="Shape 8"/>
          <p:cNvSpPr/>
          <p:nvPr/>
        </p:nvSpPr>
        <p:spPr>
          <a:xfrm>
            <a:off x="566928" y="5643499"/>
            <a:ext cx="6126480" cy="20117"/>
          </a:xfrm>
          <a:prstGeom prst="rect">
            <a:avLst/>
          </a:prstGeom>
          <a:solidFill>
            <a:srgbClr val="23373B"/>
          </a:solidFill>
          <a:ln>
            <a:noFill/>
          </a:ln>
        </p:spPr>
      </p:sp>
      <p:sp>
        <p:nvSpPr>
          <p:cNvPr id="12" name="Text 9"/>
          <p:cNvSpPr/>
          <p:nvPr/>
        </p:nvSpPr>
        <p:spPr>
          <a:xfrm>
            <a:off x="6995160" y="2377440"/>
            <a:ext cx="4663440" cy="37490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Only 20 of 3,228 injected snippets contain a full answer option, and re-scoring with those removed leaves accuracy unchanged.</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Masking every term name inside its own snippet costs part of the gain but stays above the no-RAG baseline, so the snippet does work the term name alone does not explain.</a:t>
            </a:r>
            <a:endParaRPr lang="en-US" sz="1800" dirty="0"/>
          </a:p>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On 50 invented terms with author-written definitions, both models go from near chance to every item correct, so the frontier model’s flat Δ is not an inability to use a definition.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Four-State Decomposition and the Oracle Gap</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9931739"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23</a:t>
            </a:r>
            <a:endParaRPr lang="en-US" sz="1050" dirty="0"/>
          </a:p>
        </p:txBody>
      </p:sp>
      <p:pic>
        <p:nvPicPr>
          <p:cNvPr id="7" name="Image 0" descr="/Users/ouyang/2026/emnlp2026/talk/figures/fig52_fourstate.png"/>
          <p:cNvPicPr>
            <a:picLocks noChangeAspect="1"/>
          </p:cNvPicPr>
          <p:nvPr/>
        </p:nvPicPr>
        <p:blipFill>
          <a:blip r:embed="rId1"/>
          <a:stretch>
            <a:fillRect/>
          </a:stretch>
        </p:blipFill>
        <p:spPr>
          <a:xfrm>
            <a:off x="431800" y="1390015"/>
            <a:ext cx="6713220" cy="4258945"/>
          </a:xfrm>
          <a:prstGeom prst="rect">
            <a:avLst/>
          </a:prstGeom>
        </p:spPr>
      </p:pic>
      <p:sp>
        <p:nvSpPr>
          <p:cNvPr id="8" name="Text 5"/>
          <p:cNvSpPr/>
          <p:nvPr/>
        </p:nvSpPr>
        <p:spPr>
          <a:xfrm>
            <a:off x="914400" y="5616575"/>
            <a:ext cx="6035040" cy="438912"/>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Regular" panose="02020503050405090304" charset="0"/>
                <a:ea typeface="Times New Roman" panose="02020503050405090304" pitchFamily="34" charset="-122"/>
                <a:cs typeface="Times New Roman Regular" panose="02020503050405090304" charset="0"/>
              </a:rPr>
              <a:t>Figure 4. </a:t>
            </a:r>
            <a:r>
              <a:rPr lang="en-US" sz="1400" dirty="0">
                <a:solidFill>
                  <a:srgbClr val="6E7E83"/>
                </a:solidFill>
                <a:latin typeface="Times New Roman Regular" panose="02020503050405090304" charset="0"/>
                <a:ea typeface="Times New Roman" panose="02020503050405090304" pitchFamily="34" charset="-122"/>
                <a:cs typeface="Times New Roman Regular" panose="02020503050405090304" charset="0"/>
              </a:rPr>
              <a:t>Stacked-bar visualisation of the paired RAG-removal decomposition.</a:t>
            </a:r>
            <a:endParaRPr lang="en-US" sz="1400" dirty="0">
              <a:latin typeface="Times New Roman Regular" panose="02020503050405090304" charset="0"/>
              <a:cs typeface="Times New Roman Regular" panose="02020503050405090304" charset="0"/>
            </a:endParaRPr>
          </a:p>
        </p:txBody>
      </p:sp>
      <mc:AlternateContent xmlns:mc="http://schemas.openxmlformats.org/markup-compatibility/2006">
        <mc:Choice xmlns:a14="http://schemas.microsoft.com/office/drawing/2010/main" Requires="a14">
          <p:sp>
            <p:nvSpPr>
              <p:cNvPr id="9" name="Text 6"/>
              <p:cNvSpPr/>
              <p:nvPr/>
            </p:nvSpPr>
            <p:spPr>
              <a:xfrm>
                <a:off x="7406640" y="1913255"/>
                <a:ext cx="4206240" cy="42062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Qwen-2.5-14B sits at Δ = −0.1, yet retrieval flips 13.1% of answers: 73 corrected, 74 broken.</a:t>
                </a:r>
                <a:endParaRPr lang="en-US" sz="1800" dirty="0">
                  <a:latin typeface="Times New Roman Regular" panose="02020503050405090304" charset="0"/>
                  <a:cs typeface="Times New Roman Regular" panose="02020503050405090304" charset="0"/>
                </a:endParaRPr>
              </a:p>
              <a:p>
                <a:pPr marL="342900" indent="-342900">
                  <a:lnSpc>
                    <a:spcPct val="120000"/>
                  </a:lnSpc>
                  <a:spcAft>
                    <a:spcPts val="900"/>
                  </a:spcAft>
                  <a:buSzPct val="100000"/>
                  <a:buChar char="•"/>
                </a:pPr>
                <a:r>
                  <a:rPr lang="en-US" sz="18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Flip rate runs 5–18% across the panel; 2–7% of already-correct answers are broken.</a:t>
                </a:r>
                <a:endParaRPr lang="en-US" sz="1800" dirty="0">
                  <a:latin typeface="Times New Roman Regular" panose="02020503050405090304" charset="0"/>
                  <a:cs typeface="Times New Roman Regular" panose="02020503050405090304" charset="0"/>
                </a:endParaRPr>
              </a:p>
              <a:p>
                <a:pPr marL="342900" indent="-342900">
                  <a:lnSpc>
                    <a:spcPct val="120000"/>
                  </a:lnSpc>
                  <a:spcAft>
                    <a:spcPts val="900"/>
                  </a:spcAft>
                  <a:buSzPct val="100000"/>
                  <a:buChar char="•"/>
                </a:pPr>
                <a:r>
                  <a:rPr lang="en-US" sz="18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Headroom over always-on retrieval equals </a:t>
                </a:r>
                <a14:m>
                  <m:oMath xmlns:m="http://schemas.openxmlformats.org/officeDocument/2006/math">
                    <m:sSub>
                      <m:sSubPr>
                        <m:ctrlP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ctrlPr>
                      </m:sSubPr>
                      <m:e>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𝑝</m:t>
                        </m:r>
                      </m:e>
                      <m:sub>
                        <m:r>
                          <a:rPr lang="en-US" b="1" i="1" dirty="0">
                            <a:solidFill>
                              <a:srgbClr val="23373B"/>
                            </a:solidFill>
                            <a:latin typeface="DejaVu Math TeX Gyre" panose="02000503000000000000" charset="0"/>
                            <a:ea typeface="Times New Roman" panose="02020503050405090304" pitchFamily="34" charset="-122"/>
                            <a:cs typeface="DejaVu Math TeX Gyre" panose="02000503000000000000" charset="0"/>
                          </a:rPr>
                          <m:t>𝟎𝟏</m:t>
                        </m:r>
                      </m:sub>
                    </m:sSub>
                  </m:oMath>
                </a14:m>
                <a:r>
                  <a:rPr lang="en-US" sz="1800" dirty="0">
                    <a:solidFill>
                      <a:srgbClr val="23373B"/>
                    </a:solidFill>
                    <a:latin typeface="Times New Roman Regular" panose="02020503050405090304" charset="0"/>
                    <a:ea typeface="Times New Roman" panose="02020503050405090304" pitchFamily="34" charset="-122"/>
                    <a:cs typeface="Times New Roman Regular" panose="02020503050405090304" charset="0"/>
                  </a:rPr>
                  <a:t>, about 6 points, and that is what routing must recover.</a:t>
                </a:r>
                <a:endParaRPr lang="en-US" sz="1800" dirty="0">
                  <a:latin typeface="Times New Roman Regular" panose="02020503050405090304" charset="0"/>
                  <a:cs typeface="Times New Roman Regular" panose="02020503050405090304" charset="0"/>
                </a:endParaRPr>
              </a:p>
            </p:txBody>
          </p:sp>
        </mc:Choice>
        <mc:Fallback>
          <p:sp>
            <p:nvSpPr>
              <p:cNvPr id="9" name="Text 6"/>
              <p:cNvSpPr>
                <a:spLocks noRot="1" noChangeAspect="1" noMove="1" noResize="1" noEditPoints="1" noAdjustHandles="1" noChangeArrowheads="1" noChangeShapeType="1" noTextEdit="1"/>
              </p:cNvSpPr>
              <p:nvPr/>
            </p:nvSpPr>
            <p:spPr>
              <a:xfrm>
                <a:off x="7406640" y="1913255"/>
                <a:ext cx="4206240" cy="420624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Per-Question Correlation Results</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0383181"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24</a:t>
            </a:r>
            <a:endParaRPr lang="en-US" sz="1050" dirty="0"/>
          </a:p>
        </p:txBody>
      </p:sp>
      <p:pic>
        <p:nvPicPr>
          <p:cNvPr id="7" name="Image 0" descr="/Users/ouyang/2026/emnlp2026/talk/figures/fig57_correlation_forest.png"/>
          <p:cNvPicPr>
            <a:picLocks noChangeAspect="1"/>
          </p:cNvPicPr>
          <p:nvPr/>
        </p:nvPicPr>
        <p:blipFill>
          <a:blip r:embed="rId1"/>
          <a:stretch>
            <a:fillRect/>
          </a:stretch>
        </p:blipFill>
        <p:spPr>
          <a:xfrm>
            <a:off x="731520" y="1633220"/>
            <a:ext cx="6471285" cy="3697605"/>
          </a:xfrm>
          <a:prstGeom prst="rect">
            <a:avLst/>
          </a:prstGeom>
        </p:spPr>
      </p:pic>
      <p:sp>
        <p:nvSpPr>
          <p:cNvPr id="8" name="Text 5"/>
          <p:cNvSpPr/>
          <p:nvPr/>
        </p:nvSpPr>
        <p:spPr>
          <a:xfrm>
            <a:off x="731520" y="5467985"/>
            <a:ext cx="6400800" cy="438912"/>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Figure 5.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Per-question correlations as a forest plot.</a:t>
            </a:r>
            <a:endParaRPr lang="en-US" sz="1400" dirty="0"/>
          </a:p>
        </p:txBody>
      </p:sp>
      <p:sp>
        <p:nvSpPr>
          <p:cNvPr id="9" name="Text 6"/>
          <p:cNvSpPr/>
          <p:nvPr/>
        </p:nvSpPr>
        <p:spPr>
          <a:xfrm>
            <a:off x="7589520" y="1700530"/>
            <a:ext cx="4023360" cy="42062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Five models × two measurements × two aggregations × two outcomes = 40 correlations.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All lie within |r| &lt; 0.06, maximum 0.053, accounting for under 1% of outcome variance.</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 bounded null, not low power: the Fisher-z zero band is ±0.062 and a permutation test gives p = 0.91.</a:t>
            </a:r>
            <a:endParaRPr lang="en-US" sz="1800" dirty="0"/>
          </a:p>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Restricting to questions whose term was actually retrieved, or to the both-annotator intersection, changes nothing.</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txBody>
          <a:bodyPr/>
          <a:p/>
        </p:txBody>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Routing-Signal Comparison</a:t>
            </a:r>
            <a:endParaRPr lang="en-US" sz="2200" dirty="0"/>
          </a:p>
        </p:txBody>
      </p:sp>
      <p:sp>
        <p:nvSpPr>
          <p:cNvPr id="4" name="Shape 2"/>
          <p:cNvSpPr/>
          <p:nvPr/>
        </p:nvSpPr>
        <p:spPr>
          <a:xfrm>
            <a:off x="0" y="713232"/>
            <a:ext cx="12188952" cy="41148"/>
          </a:xfrm>
          <a:prstGeom prst="rect">
            <a:avLst/>
          </a:prstGeom>
          <a:solidFill>
            <a:srgbClr val="D3D8D8"/>
          </a:solidFill>
          <a:ln>
            <a:noFill/>
          </a:ln>
        </p:spPr>
        <p:txBody>
          <a:bodyPr/>
          <a:p/>
        </p:txBody>
      </p:sp>
      <p:sp>
        <p:nvSpPr>
          <p:cNvPr id="5" name="Shape 3"/>
          <p:cNvSpPr/>
          <p:nvPr/>
        </p:nvSpPr>
        <p:spPr>
          <a:xfrm>
            <a:off x="0" y="713232"/>
            <a:ext cx="10834624" cy="41148"/>
          </a:xfrm>
          <a:prstGeom prst="rect">
            <a:avLst/>
          </a:prstGeom>
          <a:solidFill>
            <a:srgbClr val="EB811B"/>
          </a:solidFill>
          <a:ln>
            <a:noFill/>
          </a:ln>
        </p:spPr>
        <p:txBody>
          <a:bodyPr/>
          <a:p/>
        </p:txBody>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25</a:t>
            </a:r>
            <a:endParaRPr lang="en-US" sz="1050" dirty="0"/>
          </a:p>
        </p:txBody>
      </p:sp>
      <p:pic>
        <p:nvPicPr>
          <p:cNvPr id="7" name="Image 0" descr="/Users/ouyang/2026/emnlp2026/talk/figures/new2_routing_ladder.png"/>
          <p:cNvPicPr>
            <a:picLocks noChangeAspect="1"/>
          </p:cNvPicPr>
          <p:nvPr/>
        </p:nvPicPr>
        <p:blipFill>
          <a:blip r:embed="rId1"/>
          <a:stretch>
            <a:fillRect/>
          </a:stretch>
        </p:blipFill>
        <p:spPr>
          <a:xfrm>
            <a:off x="391795" y="1366520"/>
            <a:ext cx="7170420" cy="4532630"/>
          </a:xfrm>
          <a:prstGeom prst="rect">
            <a:avLst/>
          </a:prstGeom>
        </p:spPr>
      </p:pic>
      <p:sp>
        <p:nvSpPr>
          <p:cNvPr id="8" name="Text 5"/>
          <p:cNvSpPr/>
          <p:nvPr/>
        </p:nvSpPr>
        <p:spPr>
          <a:xfrm>
            <a:off x="567055" y="6035040"/>
            <a:ext cx="6583680" cy="438912"/>
          </a:xfrm>
          <a:prstGeom prst="rect">
            <a:avLst/>
          </a:prstGeom>
          <a:noFill/>
        </p:spPr>
        <p:txBody>
          <a:bodyPr wrap="square" lIns="0" tIns="0" rIns="0" bIns="0" rtlCol="0" anchor="ctr">
            <a:normAutofit/>
          </a:bodyPr>
          <a:lstStyle/>
          <a:p>
            <a:pPr marL="0" indent="0">
              <a:lnSpc>
                <a:spcPct val="110000"/>
              </a:lnSpc>
              <a:buNone/>
            </a:pPr>
            <a:r>
              <a:rPr lang="en-US" sz="1400" b="1"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Figure 6. </a:t>
            </a:r>
            <a:r>
              <a:rPr lang="en-US" sz="14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Routing-signal accuracies against the oracle gap.</a:t>
            </a:r>
            <a:endParaRPr lang="en-US" sz="1400" dirty="0"/>
          </a:p>
        </p:txBody>
      </p:sp>
      <p:sp>
        <p:nvSpPr>
          <p:cNvPr id="9" name="Text 6"/>
          <p:cNvSpPr/>
          <p:nvPr/>
        </p:nvSpPr>
        <p:spPr>
          <a:xfrm>
            <a:off x="7562215" y="1510665"/>
            <a:ext cx="3977640" cy="42062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Seven internal signals, each swept in its own favour; none recovers the gap.</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The best internal signal adds 1.3 points and needs the post-retrieval state.</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Only an external judge exceeds always-on retrieval, and it is itself a second and stronger model.</a:t>
            </a:r>
            <a:endParaRPr lang="en-US" sz="1800" dirty="0"/>
          </a:p>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Filtering which definitions to inject fails too: −0.8 on MMLU, −2.2 on XFinBench.</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txBody>
          <a:bodyPr/>
          <a:p/>
        </p:txBody>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Interpreting the Two Results</a:t>
            </a:r>
            <a:endParaRPr lang="en-US" sz="2200" dirty="0"/>
          </a:p>
        </p:txBody>
      </p:sp>
      <p:sp>
        <p:nvSpPr>
          <p:cNvPr id="4" name="Shape 2"/>
          <p:cNvSpPr/>
          <p:nvPr/>
        </p:nvSpPr>
        <p:spPr>
          <a:xfrm>
            <a:off x="0" y="713232"/>
            <a:ext cx="12188952" cy="41148"/>
          </a:xfrm>
          <a:prstGeom prst="rect">
            <a:avLst/>
          </a:prstGeom>
          <a:solidFill>
            <a:srgbClr val="D3D8D8"/>
          </a:solidFill>
          <a:ln>
            <a:noFill/>
          </a:ln>
        </p:spPr>
        <p:txBody>
          <a:bodyPr/>
          <a:p/>
        </p:txBody>
      </p:sp>
      <p:sp>
        <p:nvSpPr>
          <p:cNvPr id="5" name="Shape 3"/>
          <p:cNvSpPr/>
          <p:nvPr/>
        </p:nvSpPr>
        <p:spPr>
          <a:xfrm>
            <a:off x="0" y="713232"/>
            <a:ext cx="11286067" cy="41148"/>
          </a:xfrm>
          <a:prstGeom prst="rect">
            <a:avLst/>
          </a:prstGeom>
          <a:solidFill>
            <a:srgbClr val="EB811B"/>
          </a:solidFill>
          <a:ln>
            <a:noFill/>
          </a:ln>
        </p:spPr>
        <p:txBody>
          <a:bodyPr/>
          <a:p/>
        </p:txBody>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26</a:t>
            </a:r>
            <a:endParaRPr lang="en-US" sz="1050" dirty="0"/>
          </a:p>
        </p:txBody>
      </p:sp>
      <p:sp>
        <p:nvSpPr>
          <p:cNvPr id="7" name="Text 5"/>
          <p:cNvSpPr/>
          <p:nvPr/>
        </p:nvSpPr>
        <p:spPr>
          <a:xfrm>
            <a:off x="566928" y="1207008"/>
            <a:ext cx="11055096" cy="1051560"/>
          </a:xfrm>
          <a:prstGeom prst="rect">
            <a:avLst/>
          </a:prstGeom>
          <a:noFill/>
        </p:spPr>
        <p:txBody>
          <a:bodyPr wrap="square" lIns="0" tIns="0" rIns="0" bIns="0" rtlCol="0" anchor="t">
            <a:normAutofit/>
          </a:bodyPr>
          <a:lstStyle/>
          <a:p>
            <a:pPr marL="0" indent="0">
              <a:lnSpc>
                <a:spcPct val="125000"/>
              </a:lnSpc>
              <a:buNone/>
            </a:pPr>
            <a:r>
              <a:rPr lang="en-US" sz="2100" dirty="0">
                <a:solidFill>
                  <a:srgbClr val="23373B"/>
                </a:solidFill>
                <a:latin typeface="Georgia" panose="02040502050405090303" pitchFamily="34" charset="0"/>
                <a:ea typeface="Georgia" panose="02040502050405090303" pitchFamily="34" charset="-122"/>
                <a:cs typeface="Georgia" panose="02040502050405090303" pitchFamily="34" charset="-120"/>
              </a:rPr>
              <a:t>The simple reading is that the model is missing a fact and we hand it the fact. The observations do not support it.</a:t>
            </a:r>
            <a:endParaRPr lang="en-US" sz="2100" dirty="0"/>
          </a:p>
        </p:txBody>
      </p:sp>
      <p:sp>
        <p:nvSpPr>
          <p:cNvPr id="8" name="Text 6"/>
          <p:cNvSpPr/>
          <p:nvPr/>
        </p:nvSpPr>
        <p:spPr>
          <a:xfrm>
            <a:off x="566928" y="2286000"/>
            <a:ext cx="11055096" cy="210312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Retrieval breaks a correct answer on 2–7% of questions; stalling models gain nothing on their own worst-known quartile; filtering known definitions hurts.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What the inserted text changes is the score competition among the four options, and the outcome lives in the joint structure of stem, options and snippet.</a:t>
            </a:r>
            <a:endParaRPr lang="en-US" sz="1800" dirty="0"/>
          </a:p>
          <a:p>
            <a:pPr marL="685800" lvl="1" indent="-342900">
              <a:lnSpc>
                <a:spcPct val="120000"/>
              </a:lnSpc>
              <a:spcAft>
                <a:spcPts val="900"/>
              </a:spcAft>
              <a:buSzPct val="100000"/>
              <a:buChar char="–"/>
            </a:pPr>
            <a:r>
              <a:rPr lang="en-US" sz="160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This also explains why the one router that works is the judge that sees that joint input.</a:t>
            </a:r>
            <a:endParaRPr lang="en-US" sz="1800" dirty="0"/>
          </a:p>
        </p:txBody>
      </p:sp>
      <p:sp>
        <p:nvSpPr>
          <p:cNvPr id="9" name="Shape 7"/>
          <p:cNvSpPr/>
          <p:nvPr/>
        </p:nvSpPr>
        <p:spPr>
          <a:xfrm>
            <a:off x="566928" y="4663440"/>
            <a:ext cx="11055096" cy="0"/>
          </a:xfrm>
          <a:prstGeom prst="line">
            <a:avLst/>
          </a:prstGeom>
          <a:noFill/>
          <a:ln w="12700">
            <a:solidFill>
              <a:srgbClr val="D3D8D8"/>
            </a:solidFill>
            <a:prstDash val="solid"/>
          </a:ln>
        </p:spPr>
        <p:txBody>
          <a:bodyPr/>
          <a:p/>
        </p:txBody>
      </p:sp>
      <p:sp>
        <p:nvSpPr>
          <p:cNvPr id="10" name="Text 8"/>
          <p:cNvSpPr/>
          <p:nvPr/>
        </p:nvSpPr>
        <p:spPr>
          <a:xfrm>
            <a:off x="566928" y="4892040"/>
            <a:ext cx="11055096" cy="731520"/>
          </a:xfrm>
          <a:prstGeom prst="rect">
            <a:avLst/>
          </a:prstGeom>
          <a:noFill/>
        </p:spPr>
        <p:txBody>
          <a:bodyPr wrap="square" lIns="0" tIns="0" rIns="0" bIns="0" rtlCol="0" anchor="ctr"/>
          <a:lstStyle/>
          <a:p>
            <a:pPr marL="0" indent="0">
              <a:lnSpc>
                <a:spcPct val="120000"/>
              </a:lnSpc>
              <a:buNone/>
            </a:pPr>
            <a:r>
              <a:rPr lang="en-US" sz="2100" b="1" dirty="0">
                <a:solidFill>
                  <a:srgbClr val="23373B"/>
                </a:solidFill>
                <a:latin typeface="Georgia" panose="02040502050405090303" pitchFamily="34" charset="0"/>
                <a:ea typeface="Georgia" panose="02040502050405090303" pitchFamily="34" charset="-122"/>
                <a:cs typeface="Georgia" panose="02040502050405090303" pitchFamily="34" charset="-120"/>
              </a:rPr>
              <a:t>An aggregate diagnostic correlation does not license per-instance interventional use of the same signal.</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Conclusions</a:t>
            </a:r>
            <a:endParaRPr lang="en-US" sz="2200" dirty="0"/>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1737509"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27</a:t>
            </a:r>
            <a:endParaRPr lang="en-US" sz="1050" dirty="0"/>
          </a:p>
        </p:txBody>
      </p:sp>
      <p:sp>
        <p:nvSpPr>
          <p:cNvPr id="7" name="Text 5"/>
          <p:cNvSpPr/>
          <p:nvPr/>
        </p:nvSpPr>
        <p:spPr>
          <a:xfrm>
            <a:off x="566928" y="1389888"/>
            <a:ext cx="11055096" cy="3291840"/>
          </a:xfrm>
          <a:prstGeom prst="rect">
            <a:avLst/>
          </a:prstGeom>
          <a:noFill/>
        </p:spPr>
        <p:txBody>
          <a:bodyPr wrap="square" lIns="0" tIns="0" rIns="0" bIns="0" rtlCol="0" anchor="t">
            <a:normAutofit/>
          </a:bodyPr>
          <a:lstStyle/>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At the input level the intervention works. Definition-only retrieval lifts accuracy on the mid-capability band, on two benchmarks, and the controls place the gain in the definition itself rather than in a leaked answer string or in memorisation.</a:t>
            </a:r>
            <a:endParaRPr lang="en-US" sz="1800" dirty="0"/>
          </a:p>
          <a:p>
            <a:pPr marL="342900" indent="-342900">
              <a:lnSpc>
                <a:spcPct val="120000"/>
              </a:lnSpc>
              <a:spcAft>
                <a:spcPts val="900"/>
              </a:spcAft>
              <a:buSzPct val="100000"/>
              <a:buChar char="•"/>
            </a:pPr>
            <a:r>
              <a:rPr lang="en-US" sz="1800" b="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At the routing level the same signal does not, at any scale tested, and not for any of the seven cheap signals across the panel.</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Closing the gap needs information beyond the question and its definitions, plausibly the model’s own pretrained ability, where GPT-5.2’s near-saturation suggests the capability already resides.</a:t>
            </a:r>
            <a:endParaRPr lang="en-US" sz="1800" dirty="0"/>
          </a:p>
          <a:p>
            <a:pPr marL="342900" indent="-342900">
              <a:lnSpc>
                <a:spcPct val="120000"/>
              </a:lnSpc>
              <a:spcAft>
                <a:spcPts val="900"/>
              </a:spcAft>
              <a:buSzPct val="100000"/>
              <a:buChar char="•"/>
            </a:pPr>
            <a:r>
              <a:rPr lang="en-US" sz="18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We release the annotation, the definition probe, the invented terms and the evaluation harness, so this becomes a testbed for whatever routing signal comes next.</a:t>
            </a:r>
            <a:endParaRPr lang="en-US" sz="1800" dirty="0"/>
          </a:p>
        </p:txBody>
      </p:sp>
      <p:sp>
        <p:nvSpPr>
          <p:cNvPr id="8" name="Shape 6"/>
          <p:cNvSpPr/>
          <p:nvPr/>
        </p:nvSpPr>
        <p:spPr>
          <a:xfrm>
            <a:off x="566928" y="6135370"/>
            <a:ext cx="11055096" cy="0"/>
          </a:xfrm>
          <a:prstGeom prst="line">
            <a:avLst/>
          </a:prstGeom>
          <a:noFill/>
          <a:ln w="12700">
            <a:solidFill>
              <a:srgbClr val="D3D8D8"/>
            </a:solidFill>
            <a:prstDash val="solid"/>
          </a:ln>
        </p:spPr>
      </p:sp>
      <p:sp>
        <p:nvSpPr>
          <p:cNvPr id="9" name="Text 7"/>
          <p:cNvSpPr/>
          <p:nvPr/>
        </p:nvSpPr>
        <p:spPr>
          <a:xfrm>
            <a:off x="566928" y="6363970"/>
            <a:ext cx="6858000" cy="365760"/>
          </a:xfrm>
          <a:prstGeom prst="rect">
            <a:avLst/>
          </a:prstGeom>
          <a:noFill/>
        </p:spPr>
        <p:txBody>
          <a:bodyPr wrap="square" lIns="0" tIns="0" rIns="0" bIns="0" rtlCol="0" anchor="ctr"/>
          <a:lstStyle/>
          <a:p>
            <a:pPr marL="0" indent="0">
              <a:buNone/>
            </a:pPr>
            <a:r>
              <a:rPr lang="en-US" sz="1400" b="1" dirty="0">
                <a:solidFill>
                  <a:srgbClr val="EB811B"/>
                </a:solidFill>
                <a:latin typeface="Times New Roman" panose="02020503050405090304" pitchFamily="34" charset="0"/>
                <a:ea typeface="Times New Roman" panose="02020503050405090304" pitchFamily="34" charset="-122"/>
                <a:cs typeface="Times New Roman" panose="02020503050405090304" pitchFamily="34" charset="-120"/>
              </a:rPr>
              <a:t>github.com/youngandlei/definition-only-rag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References i</a:t>
            </a:r>
            <a:endPar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endParaRPr>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2188952"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28</a:t>
            </a:r>
            <a:endParaRPr lang="en-US" sz="1050" dirty="0"/>
          </a:p>
        </p:txBody>
      </p:sp>
      <p:sp>
        <p:nvSpPr>
          <p:cNvPr id="7" name="Text 5"/>
          <p:cNvSpPr/>
          <p:nvPr/>
        </p:nvSpPr>
        <p:spPr>
          <a:xfrm>
            <a:off x="567055" y="1161415"/>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Akari Asai, Zeqiu Wu, Yizhong Wang, Avirup Sil, and Hannaneh Hajishirzi.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Self-RAG: learning to retrieve, generate, and critique through self-reflection.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ICLR.</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8" name="Text 6"/>
          <p:cNvSpPr/>
          <p:nvPr/>
        </p:nvSpPr>
        <p:spPr>
          <a:xfrm>
            <a:off x="567055" y="1764665"/>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Satanjeev Banerjee and Alon Lavie. 2005.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METEOR: an automatic metric for MT evaluation with improved correlation with human judgments.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ACL Workshop on Intrinsic and Extrinsic Evaluation Measures.</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9" name="Text 7"/>
          <p:cNvSpPr/>
          <p:nvPr/>
        </p:nvSpPr>
        <p:spPr>
          <a:xfrm>
            <a:off x="567055" y="2368550"/>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Sebastian Farquhar, Jannik Kossen, Lorenz Kuhn, and Yarin Gal.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Detecting hallucinations in large language models using semantic entropy.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Nature, 630:625–630.</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0" name="Text 8"/>
          <p:cNvSpPr/>
          <p:nvPr/>
        </p:nvSpPr>
        <p:spPr>
          <a:xfrm>
            <a:off x="567055" y="2971800"/>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Noah Gardner, Hafiz Khan, and Chih-Cheng Hung. 2022.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Definition modeling: literature review and dataset analysis.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Applied Computing and Intelligence, 2(1):83–98.</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1" name="Text 9"/>
          <p:cNvSpPr/>
          <p:nvPr/>
        </p:nvSpPr>
        <p:spPr>
          <a:xfrm>
            <a:off x="567055" y="3575050"/>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Dan Hendrycks, Collin Burns, Steven Basart, Andy Zou, Mantas Mazeika, Dawn Song, and Jacob Steinhardt. 2020.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Measuring massive multitask language understanding.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arXiv:2009.03300.</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2" name="Text 10"/>
          <p:cNvSpPr/>
          <p:nvPr/>
        </p:nvSpPr>
        <p:spPr>
          <a:xfrm>
            <a:off x="567055" y="4178935"/>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Soyeong Jeong, Jinheon Baek, Sukmin Cho, Sung Ju Hwang, and Jong C. Park.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Adaptive-RAG: learning to adapt retrieval-augmented large language models through question complexity.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NAACL, pages 7036–7050.</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3" name="Text 11"/>
          <p:cNvSpPr/>
          <p:nvPr/>
        </p:nvSpPr>
        <p:spPr>
          <a:xfrm>
            <a:off x="567055" y="4782185"/>
            <a:ext cx="11257280" cy="534670"/>
          </a:xfrm>
          <a:prstGeom prst="rect">
            <a:avLst/>
          </a:prstGeom>
          <a:noFill/>
        </p:spPr>
        <p:txBody>
          <a:bodyPr wrap="square" lIns="0" tIns="0" rIns="0" bIns="0" rtlCol="0" anchor="t">
            <a:norm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James Jhirad, Edison Marrese-Taylor, and Yutaka Matsuo. 2023.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Evaluating large language models’ understanding of financial terminology via definition modeling.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IJCNLP-AACL Student Research Workshop, pages 93–100.</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4" name="Text 12"/>
          <p:cNvSpPr/>
          <p:nvPr/>
        </p:nvSpPr>
        <p:spPr>
          <a:xfrm>
            <a:off x="567055" y="5386070"/>
            <a:ext cx="11257280" cy="712470"/>
          </a:xfrm>
          <a:prstGeom prst="rect">
            <a:avLst/>
          </a:prstGeom>
          <a:noFill/>
        </p:spPr>
        <p:txBody>
          <a:bodyPr wrap="square" lIns="0" tIns="0" rIns="0" bIns="0" rtlCol="0" anchor="t">
            <a:noAutofit/>
          </a:bodyPr>
          <a:lstStyle/>
          <a:p>
            <a:pPr marL="0" indent="0">
              <a:lnSpc>
                <a:spcPct val="10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Patrick Lewis, Ethan Perez, Aleksandara Piktus, Fabio Petroni, Vladimir Karpukhin, Naman Goyal, Heinrich Küttler, Mike Lewis, Wen-tau Yih, Tim Rocktäschel, Sebastian Riedel, and Douwe Kiela. 2020.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Retrieval-augmented generation for knowledge-intensive NLP tasks.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NeurIPS.</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23373B"/>
          </a:solidFill>
          <a:ln>
            <a:noFill/>
          </a:ln>
        </p:spPr>
      </p:sp>
      <p:sp>
        <p:nvSpPr>
          <p:cNvPr id="3" name="Text 1"/>
          <p:cNvSpPr/>
          <p:nvPr/>
        </p:nvSpPr>
        <p:spPr>
          <a:xfrm>
            <a:off x="566928" y="36576"/>
            <a:ext cx="11055096" cy="640080"/>
          </a:xfrm>
          <a:prstGeom prst="rect">
            <a:avLst/>
          </a:prstGeom>
          <a:noFill/>
        </p:spPr>
        <p:txBody>
          <a:bodyPr wrap="square" lIns="0" tIns="0" rIns="0" bIns="0" rtlCol="0" anchor="ctr">
            <a:normAutofit/>
          </a:bodyPr>
          <a:lstStyle/>
          <a:p>
            <a:pPr marL="0" indent="0">
              <a:buNone/>
            </a:pP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rPr>
              <a:t>References</a:t>
            </a: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sym typeface="+mn-ea"/>
              </a:rPr>
              <a:t> i</a:t>
            </a:r>
            <a:r>
              <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sym typeface="+mn-ea"/>
              </a:rPr>
              <a:t>i</a:t>
            </a:r>
            <a:endParaRPr lang="en-US" sz="2200" b="1" dirty="0">
              <a:solidFill>
                <a:srgbClr val="FFFFFF"/>
              </a:solidFill>
              <a:latin typeface="Georgia" panose="02040502050405090303" pitchFamily="34" charset="0"/>
              <a:ea typeface="Georgia" panose="02040502050405090303" pitchFamily="34" charset="-122"/>
              <a:cs typeface="Georgia" panose="02040502050405090303" pitchFamily="34" charset="-120"/>
              <a:sym typeface="+mn-ea"/>
            </a:endParaRPr>
          </a:p>
        </p:txBody>
      </p:sp>
      <p:sp>
        <p:nvSpPr>
          <p:cNvPr id="4" name="Shape 2"/>
          <p:cNvSpPr/>
          <p:nvPr/>
        </p:nvSpPr>
        <p:spPr>
          <a:xfrm>
            <a:off x="0" y="713232"/>
            <a:ext cx="12188952" cy="41148"/>
          </a:xfrm>
          <a:prstGeom prst="rect">
            <a:avLst/>
          </a:prstGeom>
          <a:solidFill>
            <a:srgbClr val="D3D8D8"/>
          </a:solidFill>
          <a:ln>
            <a:noFill/>
          </a:ln>
        </p:spPr>
      </p:sp>
      <p:sp>
        <p:nvSpPr>
          <p:cNvPr id="5" name="Shape 3"/>
          <p:cNvSpPr/>
          <p:nvPr/>
        </p:nvSpPr>
        <p:spPr>
          <a:xfrm>
            <a:off x="0" y="713232"/>
            <a:ext cx="12188952" cy="41148"/>
          </a:xfrm>
          <a:prstGeom prst="rect">
            <a:avLst/>
          </a:prstGeom>
          <a:solidFill>
            <a:srgbClr val="EB811B"/>
          </a:solidFill>
          <a:ln>
            <a:noFill/>
          </a:ln>
        </p:spPr>
      </p:sp>
      <p:sp>
        <p:nvSpPr>
          <p:cNvPr id="6" name="Text 4"/>
          <p:cNvSpPr/>
          <p:nvPr/>
        </p:nvSpPr>
        <p:spPr>
          <a:xfrm>
            <a:off x="11365992" y="6473952"/>
            <a:ext cx="457200" cy="256032"/>
          </a:xfrm>
          <a:prstGeom prst="rect">
            <a:avLst/>
          </a:prstGeom>
          <a:noFill/>
        </p:spPr>
        <p:txBody>
          <a:bodyPr wrap="square" lIns="0" tIns="0" rIns="0" bIns="0" rtlCol="0" anchor="ctr"/>
          <a:lstStyle/>
          <a:p>
            <a:pPr marL="0" indent="0" algn="r">
              <a:buNone/>
            </a:pPr>
            <a:r>
              <a:rPr lang="en-US" sz="1050" dirty="0">
                <a:solidFill>
                  <a:srgbClr val="6E7E83"/>
                </a:solidFill>
                <a:latin typeface="Times New Roman" panose="02020503050405090304" pitchFamily="34" charset="0"/>
                <a:ea typeface="Times New Roman" panose="02020503050405090304" pitchFamily="34" charset="-122"/>
                <a:cs typeface="Times New Roman" panose="02020503050405090304" pitchFamily="34" charset="-120"/>
              </a:rPr>
              <a:t>29</a:t>
            </a:r>
            <a:endParaRPr lang="en-US" sz="1050" dirty="0"/>
          </a:p>
        </p:txBody>
      </p:sp>
      <p:sp>
        <p:nvSpPr>
          <p:cNvPr id="15" name="Text 13"/>
          <p:cNvSpPr/>
          <p:nvPr/>
        </p:nvSpPr>
        <p:spPr>
          <a:xfrm>
            <a:off x="567690" y="1161415"/>
            <a:ext cx="11054715" cy="962025"/>
          </a:xfrm>
          <a:prstGeom prst="rect">
            <a:avLst/>
          </a:prstGeom>
          <a:noFill/>
        </p:spPr>
        <p:txBody>
          <a:bodyPr wrap="square" lIns="0" tIns="0" rIns="0" bIns="0" rtlCol="0" anchor="t">
            <a:no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6" name="Text 14"/>
          <p:cNvSpPr/>
          <p:nvPr/>
        </p:nvSpPr>
        <p:spPr>
          <a:xfrm>
            <a:off x="567690" y="1589405"/>
            <a:ext cx="11054715" cy="356235"/>
          </a:xfrm>
          <a:prstGeom prst="rect">
            <a:avLst/>
          </a:prstGeom>
          <a:noFill/>
        </p:spPr>
        <p:txBody>
          <a:bodyPr wrap="square" lIns="0" tIns="0" rIns="0" bIns="0" rtlCol="0" anchor="t">
            <a:no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7" name="Text 15"/>
          <p:cNvSpPr/>
          <p:nvPr/>
        </p:nvSpPr>
        <p:spPr>
          <a:xfrm>
            <a:off x="567690" y="1842770"/>
            <a:ext cx="11054715" cy="356235"/>
          </a:xfrm>
          <a:prstGeom prst="rect">
            <a:avLst/>
          </a:prstGeom>
          <a:noFill/>
        </p:spPr>
        <p:txBody>
          <a:bodyPr wrap="square" lIns="0" tIns="0" rIns="0" bIns="0" rtlCol="0" anchor="t">
            <a:no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19" name="Text 17"/>
          <p:cNvSpPr/>
          <p:nvPr/>
        </p:nvSpPr>
        <p:spPr>
          <a:xfrm>
            <a:off x="567690" y="2523490"/>
            <a:ext cx="11054715" cy="1069975"/>
          </a:xfrm>
          <a:prstGeom prst="rect">
            <a:avLst/>
          </a:prstGeom>
          <a:noFill/>
        </p:spPr>
        <p:txBody>
          <a:bodyPr wrap="square" lIns="0" tIns="0" rIns="0" bIns="0" rtlCol="0" anchor="t">
            <a:norm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20" name="Text 18"/>
          <p:cNvSpPr/>
          <p:nvPr/>
        </p:nvSpPr>
        <p:spPr>
          <a:xfrm>
            <a:off x="567690" y="3127375"/>
            <a:ext cx="11054715" cy="356235"/>
          </a:xfrm>
          <a:prstGeom prst="rect">
            <a:avLst/>
          </a:prstGeom>
          <a:noFill/>
        </p:spPr>
        <p:txBody>
          <a:bodyPr wrap="square" lIns="0" tIns="0" rIns="0" bIns="0" rtlCol="0" anchor="t">
            <a:no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21" name="Text 19"/>
          <p:cNvSpPr/>
          <p:nvPr/>
        </p:nvSpPr>
        <p:spPr>
          <a:xfrm>
            <a:off x="567690" y="3380105"/>
            <a:ext cx="11054715" cy="713105"/>
          </a:xfrm>
          <a:prstGeom prst="rect">
            <a:avLst/>
          </a:prstGeom>
          <a:noFill/>
        </p:spPr>
        <p:txBody>
          <a:bodyPr wrap="square" lIns="0" tIns="0" rIns="0" bIns="0" rtlCol="0" anchor="t">
            <a:norm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22" name="Text 20"/>
          <p:cNvSpPr/>
          <p:nvPr/>
        </p:nvSpPr>
        <p:spPr>
          <a:xfrm>
            <a:off x="567690" y="4596130"/>
            <a:ext cx="11054715" cy="639445"/>
          </a:xfrm>
          <a:prstGeom prst="rect">
            <a:avLst/>
          </a:prstGeom>
          <a:noFill/>
        </p:spPr>
        <p:txBody>
          <a:bodyPr wrap="square" lIns="0" tIns="0" rIns="0" bIns="0" rtlCol="0" anchor="t">
            <a:noAutofit/>
          </a:bodyPr>
          <a:lstStyle/>
          <a:p>
            <a:pPr marL="0" indent="0">
              <a:lnSpc>
                <a:spcPct val="100000"/>
              </a:lnSpc>
              <a:buNone/>
            </a:pP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
        <p:nvSpPr>
          <p:cNvPr id="23" name="Text 21"/>
          <p:cNvSpPr/>
          <p:nvPr/>
        </p:nvSpPr>
        <p:spPr>
          <a:xfrm>
            <a:off x="567055" y="852170"/>
            <a:ext cx="11054715" cy="5238115"/>
          </a:xfrm>
          <a:prstGeom prst="rect">
            <a:avLst/>
          </a:prstGeom>
          <a:noFill/>
        </p:spPr>
        <p:txBody>
          <a:bodyPr wrap="square" lIns="0" tIns="0" rIns="0" bIns="0" rtlCol="0" anchor="t">
            <a:noAutofit/>
          </a:bodyPr>
          <a:lstStyle/>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Edison Marrese-Taylor, Erica K. Shimomoto, Alfredo Solano, and Enrique Reid. 2025.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Multilingual definition modeling.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Findings of ACL 2025.</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Meta AI.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The Llama 3 herd of models.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Technical report, Meta.</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Mistral AI. 2025.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Mistral Small 3 (24B Instruct).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Model release, mistral.ai.</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Rodrigo Nogueira and Kyunghyun Cho. 2019.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Passage re-ranking with BERT.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arXiv:1901.04085.</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Thanapon Noraset, Chen Liang, Larry Birnbaum, and Doug Downey. 2017.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Definition modeling: learning to define word embeddings in natural language.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AAAI, volume 31.</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Qwen Team.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Qwen2.5 technical report.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Technical report, Alibaba Cloud.</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Nils Reimers and Iryna Gurevych. 2019.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Sentence-BERT: sentence embeddings using Siamese BERT-networks.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EMNLP-IJCNLP.</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Xinpeng Wang, Bolei Ma, Chengzhi Hu, Leon Weber-Genzel, Paul Röttger, Frauke Kreuter, Dirk Hovy, and Barbara Plank. 2024.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sym typeface="+mn-ea"/>
              </a:rPr>
              <a:t>“My answer is C”: first-token probabilities do not match text answers in instruction-tuned language models.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sym typeface="+mn-ea"/>
              </a:rPr>
              <a:t>Findings of ACL 2024, pages 7407–7416.</a:t>
            </a:r>
            <a:endPar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a:p>
            <a:pPr marL="0" indent="0">
              <a:lnSpc>
                <a:spcPct val="150000"/>
              </a:lnSpc>
              <a:buNone/>
            </a:pPr>
            <a:r>
              <a:rPr lang="en-US" sz="1600"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Zhihan Zhang, Yixin Cao, and Lizi Liao. 2025. </a:t>
            </a:r>
            <a:r>
              <a:rPr lang="en-US" sz="1600" dirty="0">
                <a:solidFill>
                  <a:srgbClr val="4C5B9A"/>
                </a:solidFill>
                <a:latin typeface="Times New Roman" panose="02020503050405090304" pitchFamily="34" charset="0"/>
                <a:ea typeface="Times New Roman" panose="02020503050405090304" pitchFamily="34" charset="-122"/>
                <a:cs typeface="Times New Roman" panose="02020503050405090304" pitchFamily="34" charset="-120"/>
              </a:rPr>
              <a:t>XFinBench: benchmarking LLMs in complex financial problem solving and reasoning. </a:t>
            </a:r>
            <a:r>
              <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rPr>
              <a:t>Findings of ACL 2025.</a:t>
            </a:r>
            <a:endParaRPr lang="en-US" sz="1600" i="1" dirty="0">
              <a:solidFill>
                <a:srgbClr val="23373B"/>
              </a:solidFill>
              <a:latin typeface="Times New Roman" panose="02020503050405090304" pitchFamily="34" charset="0"/>
              <a:ea typeface="Times New Roman" panose="02020503050405090304" pitchFamily="34" charset="-122"/>
              <a:cs typeface="Times New Roman" panose="02020503050405090304"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13631</Words>
  <Application>WPS 演示</Application>
  <PresentationFormat>On-screen Show (16:9)</PresentationFormat>
  <Paragraphs>526</Paragraphs>
  <Slides>28</Slides>
  <Notes>27</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28</vt:i4>
      </vt:variant>
    </vt:vector>
  </HeadingPairs>
  <TitlesOfParts>
    <vt:vector size="51" baseType="lpstr">
      <vt:lpstr>Arial</vt:lpstr>
      <vt:lpstr>宋体</vt:lpstr>
      <vt:lpstr>Wingdings</vt:lpstr>
      <vt:lpstr>Georgia</vt:lpstr>
      <vt:lpstr>Georgia</vt:lpstr>
      <vt:lpstr>Georgia</vt:lpstr>
      <vt:lpstr>Times New Roman</vt:lpstr>
      <vt:lpstr>Times New Roman</vt:lpstr>
      <vt:lpstr>Times New Roman</vt:lpstr>
      <vt:lpstr>Calibri</vt:lpstr>
      <vt:lpstr>Helvetica Neue</vt:lpstr>
      <vt:lpstr>微软雅黑</vt:lpstr>
      <vt:lpstr>汉仪旗黑</vt:lpstr>
      <vt:lpstr>宋体</vt:lpstr>
      <vt:lpstr>Arial Unicode MS</vt:lpstr>
      <vt:lpstr>等线</vt:lpstr>
      <vt:lpstr>汉仪中等线KW</vt:lpstr>
      <vt:lpstr>汉仪书宋二KW</vt:lpstr>
      <vt:lpstr>宋体-简</vt:lpstr>
      <vt:lpstr>DejaVu Math TeX Gyre</vt:lpstr>
      <vt:lpstr>Times New Roman Regular</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Definition-Only RAG for Financial QA</dc:title>
  <dc:creator>Leyi Ouyang</dc:creator>
  <dc:subject>PptxGenJS Presentation</dc:subject>
  <cp:lastModifiedBy>らくい</cp:lastModifiedBy>
  <cp:revision>4</cp:revision>
  <dcterms:created xsi:type="dcterms:W3CDTF">2026-10-05T13:14:11Z</dcterms:created>
  <dcterms:modified xsi:type="dcterms:W3CDTF">2026-10-05T13:14:11Z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89FDC90AB592ED54B3A0C36A324B8B54_42</vt:lpwstr>
  </property>
  <property fmtid="{D5CDD505-2E9C-101B-9397-08002B2CF9AE}" pid="3" name="KSOProductBuildVer">
    <vt:lpwstr>2052-7.4.1.8983</vt:lpwstr>
  </property>
</Properties>
</file>